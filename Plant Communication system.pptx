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2"/>
  </p:notesMasterIdLst>
  <p:sldIdLst>
    <p:sldId id="256" r:id="rId2"/>
    <p:sldId id="257" r:id="rId3"/>
    <p:sldId id="265" r:id="rId4"/>
    <p:sldId id="270" r:id="rId5"/>
    <p:sldId id="269" r:id="rId6"/>
    <p:sldId id="259" r:id="rId7"/>
    <p:sldId id="261" r:id="rId8"/>
    <p:sldId id="258" r:id="rId9"/>
    <p:sldId id="262"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D2D6C9-188F-4973-83AC-491633771A52}" type="datetimeFigureOut">
              <a:rPr lang="en-IN" smtClean="0"/>
              <a:t>08-09-2022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2D384A-1931-4F96-A0E1-C98360C97CC2}" type="slidenum">
              <a:rPr lang="en-IN" smtClean="0"/>
              <a:t>‹#›</a:t>
            </a:fld>
            <a:endParaRPr lang="en-IN"/>
          </a:p>
        </p:txBody>
      </p:sp>
    </p:spTree>
    <p:extLst>
      <p:ext uri="{BB962C8B-B14F-4D97-AF65-F5344CB8AC3E}">
        <p14:creationId xmlns:p14="http://schemas.microsoft.com/office/powerpoint/2010/main" val="3642225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FE913-0248-47AE-BF83-BD307FEE4F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EB1E48C-D7D9-44BC-9E78-E1461F7F4C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35235E2-1A71-46DC-AC7C-9E785E95BFAE}"/>
              </a:ext>
            </a:extLst>
          </p:cNvPr>
          <p:cNvSpPr>
            <a:spLocks noGrp="1"/>
          </p:cNvSpPr>
          <p:nvPr>
            <p:ph type="dt" sz="half" idx="10"/>
          </p:nvPr>
        </p:nvSpPr>
        <p:spPr/>
        <p:txBody>
          <a:bodyPr/>
          <a:lstStyle/>
          <a:p>
            <a:fld id="{4C7FAF27-1D0C-47AB-A79F-EC5ECA063D41}" type="datetimeFigureOut">
              <a:rPr lang="en-IN" smtClean="0"/>
              <a:t>08-09-2022</a:t>
            </a:fld>
            <a:endParaRPr lang="en-IN"/>
          </a:p>
        </p:txBody>
      </p:sp>
      <p:sp>
        <p:nvSpPr>
          <p:cNvPr id="5" name="Footer Placeholder 4">
            <a:extLst>
              <a:ext uri="{FF2B5EF4-FFF2-40B4-BE49-F238E27FC236}">
                <a16:creationId xmlns:a16="http://schemas.microsoft.com/office/drawing/2014/main" id="{D879315B-F853-40DF-8788-F8B6E1E5BE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673639-F4E0-4D9D-B2F8-A111FEBB7DC2}"/>
              </a:ext>
            </a:extLst>
          </p:cNvPr>
          <p:cNvSpPr>
            <a:spLocks noGrp="1"/>
          </p:cNvSpPr>
          <p:nvPr>
            <p:ph type="sldNum" sz="quarter" idx="12"/>
          </p:nvPr>
        </p:nvSpPr>
        <p:spPr/>
        <p:txBody>
          <a:bodyPr/>
          <a:lstStyle/>
          <a:p>
            <a:fld id="{B39B51F0-7340-4ABF-BD87-7340135D7668}" type="slidenum">
              <a:rPr lang="en-IN" smtClean="0"/>
              <a:t>‹#›</a:t>
            </a:fld>
            <a:endParaRPr lang="en-IN"/>
          </a:p>
        </p:txBody>
      </p:sp>
    </p:spTree>
    <p:extLst>
      <p:ext uri="{BB962C8B-B14F-4D97-AF65-F5344CB8AC3E}">
        <p14:creationId xmlns:p14="http://schemas.microsoft.com/office/powerpoint/2010/main" val="1858669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170F0-376E-4F1E-ACC2-B550A63AD24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CAC2B3-E053-4203-892F-4DEE26161D4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29781F-F302-4E4A-BA5C-B1D5F269D5F9}"/>
              </a:ext>
            </a:extLst>
          </p:cNvPr>
          <p:cNvSpPr>
            <a:spLocks noGrp="1"/>
          </p:cNvSpPr>
          <p:nvPr>
            <p:ph type="dt" sz="half" idx="10"/>
          </p:nvPr>
        </p:nvSpPr>
        <p:spPr/>
        <p:txBody>
          <a:bodyPr/>
          <a:lstStyle/>
          <a:p>
            <a:fld id="{4C7FAF27-1D0C-47AB-A79F-EC5ECA063D41}" type="datetimeFigureOut">
              <a:rPr lang="en-IN" smtClean="0"/>
              <a:t>08-09-2022</a:t>
            </a:fld>
            <a:endParaRPr lang="en-IN"/>
          </a:p>
        </p:txBody>
      </p:sp>
      <p:sp>
        <p:nvSpPr>
          <p:cNvPr id="5" name="Footer Placeholder 4">
            <a:extLst>
              <a:ext uri="{FF2B5EF4-FFF2-40B4-BE49-F238E27FC236}">
                <a16:creationId xmlns:a16="http://schemas.microsoft.com/office/drawing/2014/main" id="{358BFBE7-B037-4FFD-B44A-863BE807E9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8F7E6F-508C-490E-8938-04EC6ECB1F22}"/>
              </a:ext>
            </a:extLst>
          </p:cNvPr>
          <p:cNvSpPr>
            <a:spLocks noGrp="1"/>
          </p:cNvSpPr>
          <p:nvPr>
            <p:ph type="sldNum" sz="quarter" idx="12"/>
          </p:nvPr>
        </p:nvSpPr>
        <p:spPr/>
        <p:txBody>
          <a:bodyPr/>
          <a:lstStyle/>
          <a:p>
            <a:fld id="{B39B51F0-7340-4ABF-BD87-7340135D7668}" type="slidenum">
              <a:rPr lang="en-IN" smtClean="0"/>
              <a:t>‹#›</a:t>
            </a:fld>
            <a:endParaRPr lang="en-IN"/>
          </a:p>
        </p:txBody>
      </p:sp>
    </p:spTree>
    <p:extLst>
      <p:ext uri="{BB962C8B-B14F-4D97-AF65-F5344CB8AC3E}">
        <p14:creationId xmlns:p14="http://schemas.microsoft.com/office/powerpoint/2010/main" val="29798551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7CA9C-C84E-4173-A499-37F4598E13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D426096-8E68-4FAD-A321-E7471A2CF6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7A7E065-DB25-41AB-BC7D-CE7D9BFB6896}"/>
              </a:ext>
            </a:extLst>
          </p:cNvPr>
          <p:cNvSpPr>
            <a:spLocks noGrp="1"/>
          </p:cNvSpPr>
          <p:nvPr>
            <p:ph type="dt" sz="half" idx="10"/>
          </p:nvPr>
        </p:nvSpPr>
        <p:spPr/>
        <p:txBody>
          <a:bodyPr/>
          <a:lstStyle/>
          <a:p>
            <a:fld id="{4C7FAF27-1D0C-47AB-A79F-EC5ECA063D41}" type="datetimeFigureOut">
              <a:rPr lang="en-IN" smtClean="0"/>
              <a:t>08-09-2022</a:t>
            </a:fld>
            <a:endParaRPr lang="en-IN"/>
          </a:p>
        </p:txBody>
      </p:sp>
      <p:sp>
        <p:nvSpPr>
          <p:cNvPr id="5" name="Footer Placeholder 4">
            <a:extLst>
              <a:ext uri="{FF2B5EF4-FFF2-40B4-BE49-F238E27FC236}">
                <a16:creationId xmlns:a16="http://schemas.microsoft.com/office/drawing/2014/main" id="{682EF2DC-DD22-42CE-814F-5FABDE1491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31BD42-C935-4263-AE8A-907A8862CB50}"/>
              </a:ext>
            </a:extLst>
          </p:cNvPr>
          <p:cNvSpPr>
            <a:spLocks noGrp="1"/>
          </p:cNvSpPr>
          <p:nvPr>
            <p:ph type="sldNum" sz="quarter" idx="12"/>
          </p:nvPr>
        </p:nvSpPr>
        <p:spPr/>
        <p:txBody>
          <a:bodyPr/>
          <a:lstStyle/>
          <a:p>
            <a:fld id="{B39B51F0-7340-4ABF-BD87-7340135D7668}" type="slidenum">
              <a:rPr lang="en-IN" smtClean="0"/>
              <a:t>‹#›</a:t>
            </a:fld>
            <a:endParaRPr lang="en-IN"/>
          </a:p>
        </p:txBody>
      </p:sp>
    </p:spTree>
    <p:extLst>
      <p:ext uri="{BB962C8B-B14F-4D97-AF65-F5344CB8AC3E}">
        <p14:creationId xmlns:p14="http://schemas.microsoft.com/office/powerpoint/2010/main" val="414989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223C3-CC62-48F6-A7C9-D5EA9981E53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78A9AE0-36FF-4D4C-BB62-8F4649C9FC1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1B383C-6B3B-4BD4-BB8F-02675617A61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FB22AF9-F054-4D50-A6A7-95A6620A3D3A}"/>
              </a:ext>
            </a:extLst>
          </p:cNvPr>
          <p:cNvSpPr>
            <a:spLocks noGrp="1"/>
          </p:cNvSpPr>
          <p:nvPr>
            <p:ph type="dt" sz="half" idx="10"/>
          </p:nvPr>
        </p:nvSpPr>
        <p:spPr/>
        <p:txBody>
          <a:bodyPr/>
          <a:lstStyle/>
          <a:p>
            <a:fld id="{4C7FAF27-1D0C-47AB-A79F-EC5ECA063D41}" type="datetimeFigureOut">
              <a:rPr lang="en-IN" smtClean="0"/>
              <a:t>08-09-2022</a:t>
            </a:fld>
            <a:endParaRPr lang="en-IN"/>
          </a:p>
        </p:txBody>
      </p:sp>
      <p:sp>
        <p:nvSpPr>
          <p:cNvPr id="6" name="Footer Placeholder 5">
            <a:extLst>
              <a:ext uri="{FF2B5EF4-FFF2-40B4-BE49-F238E27FC236}">
                <a16:creationId xmlns:a16="http://schemas.microsoft.com/office/drawing/2014/main" id="{FBD9DE9C-132E-45B1-B59A-43B7F4EA17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15CC6A-8D4B-4C6F-9C4F-F279AEB31BAF}"/>
              </a:ext>
            </a:extLst>
          </p:cNvPr>
          <p:cNvSpPr>
            <a:spLocks noGrp="1"/>
          </p:cNvSpPr>
          <p:nvPr>
            <p:ph type="sldNum" sz="quarter" idx="12"/>
          </p:nvPr>
        </p:nvSpPr>
        <p:spPr/>
        <p:txBody>
          <a:bodyPr/>
          <a:lstStyle/>
          <a:p>
            <a:fld id="{B39B51F0-7340-4ABF-BD87-7340135D7668}" type="slidenum">
              <a:rPr lang="en-IN" smtClean="0"/>
              <a:t>‹#›</a:t>
            </a:fld>
            <a:endParaRPr lang="en-IN"/>
          </a:p>
        </p:txBody>
      </p:sp>
    </p:spTree>
    <p:extLst>
      <p:ext uri="{BB962C8B-B14F-4D97-AF65-F5344CB8AC3E}">
        <p14:creationId xmlns:p14="http://schemas.microsoft.com/office/powerpoint/2010/main" val="2004383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5BA1E-D153-4AA2-BC4F-5DC5B1ACE36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7395B2A-539A-4DD0-B40A-7E2EF351BD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F8C88D6-2BE7-4143-B395-532369ADB48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2923FC8-74AF-4AC6-9929-2113E62C64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411CE62-AC4B-40F9-AED8-4CBE097C8D8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E068C2B-D212-4EC3-8295-0C36DD671459}"/>
              </a:ext>
            </a:extLst>
          </p:cNvPr>
          <p:cNvSpPr>
            <a:spLocks noGrp="1"/>
          </p:cNvSpPr>
          <p:nvPr>
            <p:ph type="dt" sz="half" idx="10"/>
          </p:nvPr>
        </p:nvSpPr>
        <p:spPr/>
        <p:txBody>
          <a:bodyPr/>
          <a:lstStyle/>
          <a:p>
            <a:fld id="{4C7FAF27-1D0C-47AB-A79F-EC5ECA063D41}" type="datetimeFigureOut">
              <a:rPr lang="en-IN" smtClean="0"/>
              <a:t>08-09-2022</a:t>
            </a:fld>
            <a:endParaRPr lang="en-IN"/>
          </a:p>
        </p:txBody>
      </p:sp>
      <p:sp>
        <p:nvSpPr>
          <p:cNvPr id="8" name="Footer Placeholder 7">
            <a:extLst>
              <a:ext uri="{FF2B5EF4-FFF2-40B4-BE49-F238E27FC236}">
                <a16:creationId xmlns:a16="http://schemas.microsoft.com/office/drawing/2014/main" id="{E9B1D41C-9035-48F8-B48C-5BB31B982A7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FDEFE16-72BF-43BF-8FAC-51300CA68528}"/>
              </a:ext>
            </a:extLst>
          </p:cNvPr>
          <p:cNvSpPr>
            <a:spLocks noGrp="1"/>
          </p:cNvSpPr>
          <p:nvPr>
            <p:ph type="sldNum" sz="quarter" idx="12"/>
          </p:nvPr>
        </p:nvSpPr>
        <p:spPr/>
        <p:txBody>
          <a:bodyPr/>
          <a:lstStyle/>
          <a:p>
            <a:fld id="{B39B51F0-7340-4ABF-BD87-7340135D7668}" type="slidenum">
              <a:rPr lang="en-IN" smtClean="0"/>
              <a:t>‹#›</a:t>
            </a:fld>
            <a:endParaRPr lang="en-IN"/>
          </a:p>
        </p:txBody>
      </p:sp>
    </p:spTree>
    <p:extLst>
      <p:ext uri="{BB962C8B-B14F-4D97-AF65-F5344CB8AC3E}">
        <p14:creationId xmlns:p14="http://schemas.microsoft.com/office/powerpoint/2010/main" val="3447670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E0866-2A5D-4A67-9D5D-F4249D2389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575FF3E-E049-44CB-A29D-09D3EEE7DC08}"/>
              </a:ext>
            </a:extLst>
          </p:cNvPr>
          <p:cNvSpPr>
            <a:spLocks noGrp="1"/>
          </p:cNvSpPr>
          <p:nvPr>
            <p:ph type="dt" sz="half" idx="10"/>
          </p:nvPr>
        </p:nvSpPr>
        <p:spPr/>
        <p:txBody>
          <a:bodyPr/>
          <a:lstStyle/>
          <a:p>
            <a:fld id="{4C7FAF27-1D0C-47AB-A79F-EC5ECA063D41}" type="datetimeFigureOut">
              <a:rPr lang="en-IN" smtClean="0"/>
              <a:t>08-09-2022</a:t>
            </a:fld>
            <a:endParaRPr lang="en-IN"/>
          </a:p>
        </p:txBody>
      </p:sp>
      <p:sp>
        <p:nvSpPr>
          <p:cNvPr id="4" name="Footer Placeholder 3">
            <a:extLst>
              <a:ext uri="{FF2B5EF4-FFF2-40B4-BE49-F238E27FC236}">
                <a16:creationId xmlns:a16="http://schemas.microsoft.com/office/drawing/2014/main" id="{FB866162-E888-4FAF-822B-50F02999BFC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3BB465B-63AA-4C03-BD20-A6B9BE0BD4B8}"/>
              </a:ext>
            </a:extLst>
          </p:cNvPr>
          <p:cNvSpPr>
            <a:spLocks noGrp="1"/>
          </p:cNvSpPr>
          <p:nvPr>
            <p:ph type="sldNum" sz="quarter" idx="12"/>
          </p:nvPr>
        </p:nvSpPr>
        <p:spPr/>
        <p:txBody>
          <a:bodyPr/>
          <a:lstStyle/>
          <a:p>
            <a:fld id="{B39B51F0-7340-4ABF-BD87-7340135D7668}" type="slidenum">
              <a:rPr lang="en-IN" smtClean="0"/>
              <a:t>‹#›</a:t>
            </a:fld>
            <a:endParaRPr lang="en-IN"/>
          </a:p>
        </p:txBody>
      </p:sp>
    </p:spTree>
    <p:extLst>
      <p:ext uri="{BB962C8B-B14F-4D97-AF65-F5344CB8AC3E}">
        <p14:creationId xmlns:p14="http://schemas.microsoft.com/office/powerpoint/2010/main" val="2538748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C4B09D-D716-4AF7-AFB3-4C60A2888DB4}"/>
              </a:ext>
            </a:extLst>
          </p:cNvPr>
          <p:cNvSpPr>
            <a:spLocks noGrp="1"/>
          </p:cNvSpPr>
          <p:nvPr>
            <p:ph type="dt" sz="half" idx="10"/>
          </p:nvPr>
        </p:nvSpPr>
        <p:spPr/>
        <p:txBody>
          <a:bodyPr/>
          <a:lstStyle/>
          <a:p>
            <a:fld id="{4C7FAF27-1D0C-47AB-A79F-EC5ECA063D41}" type="datetimeFigureOut">
              <a:rPr lang="en-IN" smtClean="0"/>
              <a:t>08-09-2022</a:t>
            </a:fld>
            <a:endParaRPr lang="en-IN"/>
          </a:p>
        </p:txBody>
      </p:sp>
      <p:sp>
        <p:nvSpPr>
          <p:cNvPr id="3" name="Footer Placeholder 2">
            <a:extLst>
              <a:ext uri="{FF2B5EF4-FFF2-40B4-BE49-F238E27FC236}">
                <a16:creationId xmlns:a16="http://schemas.microsoft.com/office/drawing/2014/main" id="{C68E3D43-610E-4125-BBD2-67D49C47B31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32392C2-EEBF-4563-843A-9AEA6A6A835F}"/>
              </a:ext>
            </a:extLst>
          </p:cNvPr>
          <p:cNvSpPr>
            <a:spLocks noGrp="1"/>
          </p:cNvSpPr>
          <p:nvPr>
            <p:ph type="sldNum" sz="quarter" idx="12"/>
          </p:nvPr>
        </p:nvSpPr>
        <p:spPr/>
        <p:txBody>
          <a:bodyPr/>
          <a:lstStyle/>
          <a:p>
            <a:fld id="{B39B51F0-7340-4ABF-BD87-7340135D7668}" type="slidenum">
              <a:rPr lang="en-IN" smtClean="0"/>
              <a:t>‹#›</a:t>
            </a:fld>
            <a:endParaRPr lang="en-IN"/>
          </a:p>
        </p:txBody>
      </p:sp>
    </p:spTree>
    <p:extLst>
      <p:ext uri="{BB962C8B-B14F-4D97-AF65-F5344CB8AC3E}">
        <p14:creationId xmlns:p14="http://schemas.microsoft.com/office/powerpoint/2010/main" val="246403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30BE8-FC1C-4ADD-A6BA-3ED2BDE8D7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76E67A2-4AE2-447C-A158-8CFD92B40B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4F21522-7F9C-4799-BEE5-894877A74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963286B-B5B7-430F-AB23-DEE8F9E4FED4}"/>
              </a:ext>
            </a:extLst>
          </p:cNvPr>
          <p:cNvSpPr>
            <a:spLocks noGrp="1"/>
          </p:cNvSpPr>
          <p:nvPr>
            <p:ph type="dt" sz="half" idx="10"/>
          </p:nvPr>
        </p:nvSpPr>
        <p:spPr/>
        <p:txBody>
          <a:bodyPr/>
          <a:lstStyle/>
          <a:p>
            <a:fld id="{4C7FAF27-1D0C-47AB-A79F-EC5ECA063D41}" type="datetimeFigureOut">
              <a:rPr lang="en-IN" smtClean="0"/>
              <a:t>08-09-2022</a:t>
            </a:fld>
            <a:endParaRPr lang="en-IN"/>
          </a:p>
        </p:txBody>
      </p:sp>
      <p:sp>
        <p:nvSpPr>
          <p:cNvPr id="6" name="Footer Placeholder 5">
            <a:extLst>
              <a:ext uri="{FF2B5EF4-FFF2-40B4-BE49-F238E27FC236}">
                <a16:creationId xmlns:a16="http://schemas.microsoft.com/office/drawing/2014/main" id="{F150D547-54AD-4834-AE28-9610B793CE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5E004E-1BB8-4A36-9F53-CA2127D26DAA}"/>
              </a:ext>
            </a:extLst>
          </p:cNvPr>
          <p:cNvSpPr>
            <a:spLocks noGrp="1"/>
          </p:cNvSpPr>
          <p:nvPr>
            <p:ph type="sldNum" sz="quarter" idx="12"/>
          </p:nvPr>
        </p:nvSpPr>
        <p:spPr/>
        <p:txBody>
          <a:bodyPr/>
          <a:lstStyle/>
          <a:p>
            <a:fld id="{B39B51F0-7340-4ABF-BD87-7340135D7668}" type="slidenum">
              <a:rPr lang="en-IN" smtClean="0"/>
              <a:t>‹#›</a:t>
            </a:fld>
            <a:endParaRPr lang="en-IN"/>
          </a:p>
        </p:txBody>
      </p:sp>
    </p:spTree>
    <p:extLst>
      <p:ext uri="{BB962C8B-B14F-4D97-AF65-F5344CB8AC3E}">
        <p14:creationId xmlns:p14="http://schemas.microsoft.com/office/powerpoint/2010/main" val="3598085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C4FD3-3E06-40D1-9410-70AD1515D8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7F61F2C-47BE-49C5-A22E-C47D03A6D0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76917BF-280C-4297-8942-FC2CD1A567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FAD3682-94FE-4FD0-B322-18335F0DA0A5}"/>
              </a:ext>
            </a:extLst>
          </p:cNvPr>
          <p:cNvSpPr>
            <a:spLocks noGrp="1"/>
          </p:cNvSpPr>
          <p:nvPr>
            <p:ph type="dt" sz="half" idx="10"/>
          </p:nvPr>
        </p:nvSpPr>
        <p:spPr/>
        <p:txBody>
          <a:bodyPr/>
          <a:lstStyle/>
          <a:p>
            <a:fld id="{4C7FAF27-1D0C-47AB-A79F-EC5ECA063D41}" type="datetimeFigureOut">
              <a:rPr lang="en-IN" smtClean="0"/>
              <a:t>08-09-2022</a:t>
            </a:fld>
            <a:endParaRPr lang="en-IN"/>
          </a:p>
        </p:txBody>
      </p:sp>
      <p:sp>
        <p:nvSpPr>
          <p:cNvPr id="6" name="Footer Placeholder 5">
            <a:extLst>
              <a:ext uri="{FF2B5EF4-FFF2-40B4-BE49-F238E27FC236}">
                <a16:creationId xmlns:a16="http://schemas.microsoft.com/office/drawing/2014/main" id="{5F7EB1A3-8466-4279-89A8-37862AC04B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C030DD-258E-4809-9667-F0E9F71BEF8E}"/>
              </a:ext>
            </a:extLst>
          </p:cNvPr>
          <p:cNvSpPr>
            <a:spLocks noGrp="1"/>
          </p:cNvSpPr>
          <p:nvPr>
            <p:ph type="sldNum" sz="quarter" idx="12"/>
          </p:nvPr>
        </p:nvSpPr>
        <p:spPr/>
        <p:txBody>
          <a:bodyPr/>
          <a:lstStyle/>
          <a:p>
            <a:fld id="{B39B51F0-7340-4ABF-BD87-7340135D7668}" type="slidenum">
              <a:rPr lang="en-IN" smtClean="0"/>
              <a:t>‹#›</a:t>
            </a:fld>
            <a:endParaRPr lang="en-IN"/>
          </a:p>
        </p:txBody>
      </p:sp>
    </p:spTree>
    <p:extLst>
      <p:ext uri="{BB962C8B-B14F-4D97-AF65-F5344CB8AC3E}">
        <p14:creationId xmlns:p14="http://schemas.microsoft.com/office/powerpoint/2010/main" val="1084231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87F00-F4B4-4FCB-A6CD-7C248B2639A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43646B-C3D5-4443-BB32-02A0C5DA524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4843A2-747D-4329-A0A2-176742B78F32}"/>
              </a:ext>
            </a:extLst>
          </p:cNvPr>
          <p:cNvSpPr>
            <a:spLocks noGrp="1"/>
          </p:cNvSpPr>
          <p:nvPr>
            <p:ph type="dt" sz="half" idx="10"/>
          </p:nvPr>
        </p:nvSpPr>
        <p:spPr/>
        <p:txBody>
          <a:bodyPr/>
          <a:lstStyle/>
          <a:p>
            <a:fld id="{4C7FAF27-1D0C-47AB-A79F-EC5ECA063D41}" type="datetimeFigureOut">
              <a:rPr lang="en-IN" smtClean="0"/>
              <a:t>08-09-2022</a:t>
            </a:fld>
            <a:endParaRPr lang="en-IN"/>
          </a:p>
        </p:txBody>
      </p:sp>
      <p:sp>
        <p:nvSpPr>
          <p:cNvPr id="5" name="Footer Placeholder 4">
            <a:extLst>
              <a:ext uri="{FF2B5EF4-FFF2-40B4-BE49-F238E27FC236}">
                <a16:creationId xmlns:a16="http://schemas.microsoft.com/office/drawing/2014/main" id="{B7E3EF50-BE2D-417B-ACD9-3761B87EFA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8F405B-888A-41FD-93DE-DED86BC4433B}"/>
              </a:ext>
            </a:extLst>
          </p:cNvPr>
          <p:cNvSpPr>
            <a:spLocks noGrp="1"/>
          </p:cNvSpPr>
          <p:nvPr>
            <p:ph type="sldNum" sz="quarter" idx="12"/>
          </p:nvPr>
        </p:nvSpPr>
        <p:spPr/>
        <p:txBody>
          <a:bodyPr/>
          <a:lstStyle/>
          <a:p>
            <a:fld id="{B39B51F0-7340-4ABF-BD87-7340135D7668}" type="slidenum">
              <a:rPr lang="en-IN" smtClean="0"/>
              <a:t>‹#›</a:t>
            </a:fld>
            <a:endParaRPr lang="en-IN"/>
          </a:p>
        </p:txBody>
      </p:sp>
    </p:spTree>
    <p:extLst>
      <p:ext uri="{BB962C8B-B14F-4D97-AF65-F5344CB8AC3E}">
        <p14:creationId xmlns:p14="http://schemas.microsoft.com/office/powerpoint/2010/main" val="3389582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31A623-C2A3-4FB9-9D33-0E6BCCC3A4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9BA2D8-6FFA-4B96-8BA2-A8CAFDB5F14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D79C4B-18E5-476F-B5A9-90FFB2EB13EF}"/>
              </a:ext>
            </a:extLst>
          </p:cNvPr>
          <p:cNvSpPr>
            <a:spLocks noGrp="1"/>
          </p:cNvSpPr>
          <p:nvPr>
            <p:ph type="dt" sz="half" idx="10"/>
          </p:nvPr>
        </p:nvSpPr>
        <p:spPr/>
        <p:txBody>
          <a:bodyPr/>
          <a:lstStyle/>
          <a:p>
            <a:fld id="{4C7FAF27-1D0C-47AB-A79F-EC5ECA063D41}" type="datetimeFigureOut">
              <a:rPr lang="en-IN" smtClean="0"/>
              <a:t>08-09-2022</a:t>
            </a:fld>
            <a:endParaRPr lang="en-IN"/>
          </a:p>
        </p:txBody>
      </p:sp>
      <p:sp>
        <p:nvSpPr>
          <p:cNvPr id="5" name="Footer Placeholder 4">
            <a:extLst>
              <a:ext uri="{FF2B5EF4-FFF2-40B4-BE49-F238E27FC236}">
                <a16:creationId xmlns:a16="http://schemas.microsoft.com/office/drawing/2014/main" id="{70679E6E-C381-4082-856B-718725D5DE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AA6C86-98E5-4B9F-B573-18A61B2C7B4D}"/>
              </a:ext>
            </a:extLst>
          </p:cNvPr>
          <p:cNvSpPr>
            <a:spLocks noGrp="1"/>
          </p:cNvSpPr>
          <p:nvPr>
            <p:ph type="sldNum" sz="quarter" idx="12"/>
          </p:nvPr>
        </p:nvSpPr>
        <p:spPr/>
        <p:txBody>
          <a:bodyPr/>
          <a:lstStyle/>
          <a:p>
            <a:fld id="{B39B51F0-7340-4ABF-BD87-7340135D7668}" type="slidenum">
              <a:rPr lang="en-IN" smtClean="0"/>
              <a:t>‹#›</a:t>
            </a:fld>
            <a:endParaRPr lang="en-IN"/>
          </a:p>
        </p:txBody>
      </p:sp>
    </p:spTree>
    <p:extLst>
      <p:ext uri="{BB962C8B-B14F-4D97-AF65-F5344CB8AC3E}">
        <p14:creationId xmlns:p14="http://schemas.microsoft.com/office/powerpoint/2010/main" val="25333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B13D60-7B47-4B93-B2F8-2B7A564199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E12124C-FD5E-4DE7-9707-37D9683B69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1FB05B-1BA4-4ACB-A48F-6D1F6D3C60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7FAF27-1D0C-47AB-A79F-EC5ECA063D41}" type="datetimeFigureOut">
              <a:rPr lang="en-IN" smtClean="0"/>
              <a:t>08-09-2022</a:t>
            </a:fld>
            <a:endParaRPr lang="en-IN"/>
          </a:p>
        </p:txBody>
      </p:sp>
      <p:sp>
        <p:nvSpPr>
          <p:cNvPr id="5" name="Footer Placeholder 4">
            <a:extLst>
              <a:ext uri="{FF2B5EF4-FFF2-40B4-BE49-F238E27FC236}">
                <a16:creationId xmlns:a16="http://schemas.microsoft.com/office/drawing/2014/main" id="{D5168EF1-5C7E-431F-B866-3C40ACD852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B5F8000-94B1-4715-AB41-C08FB6ACC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9B51F0-7340-4ABF-BD87-7340135D7668}" type="slidenum">
              <a:rPr lang="en-IN" smtClean="0"/>
              <a:t>‹#›</a:t>
            </a:fld>
            <a:endParaRPr lang="en-IN"/>
          </a:p>
        </p:txBody>
      </p:sp>
    </p:spTree>
    <p:extLst>
      <p:ext uri="{BB962C8B-B14F-4D97-AF65-F5344CB8AC3E}">
        <p14:creationId xmlns:p14="http://schemas.microsoft.com/office/powerpoint/2010/main" val="316642664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2.jpeg"/><Relationship Id="rId7" Type="http://schemas.openxmlformats.org/officeDocument/2006/relationships/image" Target="../media/image9.jpeg"/><Relationship Id="rId2" Type="http://schemas.openxmlformats.org/officeDocument/2006/relationships/image" Target="../media/image3.jpg"/><Relationship Id="rId1" Type="http://schemas.openxmlformats.org/officeDocument/2006/relationships/slideLayout" Target="../slideLayouts/slideLayout7.xml"/><Relationship Id="rId6" Type="http://schemas.openxmlformats.org/officeDocument/2006/relationships/image" Target="../media/image8.jpeg"/><Relationship Id="rId11" Type="http://schemas.openxmlformats.org/officeDocument/2006/relationships/image" Target="../media/image13.jpeg"/><Relationship Id="rId5" Type="http://schemas.openxmlformats.org/officeDocument/2006/relationships/image" Target="../media/image7.jpeg"/><Relationship Id="rId10" Type="http://schemas.openxmlformats.org/officeDocument/2006/relationships/image" Target="../media/image12.jpeg"/><Relationship Id="rId4" Type="http://schemas.openxmlformats.org/officeDocument/2006/relationships/image" Target="../media/image6.jpeg"/><Relationship Id="rId9"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4B38F-6A4D-4774-A4CE-C10863D8C7C2}"/>
              </a:ext>
            </a:extLst>
          </p:cNvPr>
          <p:cNvSpPr>
            <a:spLocks noGrp="1"/>
          </p:cNvSpPr>
          <p:nvPr>
            <p:ph type="ctrTitle"/>
          </p:nvPr>
        </p:nvSpPr>
        <p:spPr>
          <a:xfrm>
            <a:off x="513940" y="1043012"/>
            <a:ext cx="8290560" cy="838200"/>
          </a:xfrm>
          <a:blipFill dpi="0" rotWithShape="1">
            <a:blip r:embed="rId3">
              <a:alphaModFix amt="0"/>
            </a:blip>
            <a:srcRect/>
            <a:tile tx="0" ty="0" sx="100000" sy="100000" flip="none" algn="tl"/>
          </a:blipFill>
        </p:spPr>
        <p:txBody>
          <a:bodyPr>
            <a:normAutofit fontScale="90000"/>
          </a:bodyPr>
          <a:lstStyle/>
          <a:p>
            <a:pPr algn="l"/>
            <a:r>
              <a:rPr lang="en-IN" sz="4400" dirty="0">
                <a:latin typeface="Adobe Ming Std L" panose="02020300000000000000" pitchFamily="18" charset="-128"/>
                <a:ea typeface="Adobe Ming Std L" panose="02020300000000000000" pitchFamily="18" charset="-128"/>
              </a:rPr>
              <a:t>Plant Communication System</a:t>
            </a:r>
            <a:br>
              <a:rPr lang="en-IN" sz="4400" dirty="0">
                <a:latin typeface="Adobe Ming Std L" panose="02020300000000000000" pitchFamily="18" charset="-128"/>
                <a:ea typeface="Adobe Ming Std L" panose="02020300000000000000" pitchFamily="18" charset="-128"/>
              </a:rPr>
            </a:br>
            <a:r>
              <a:rPr lang="en-IN" sz="4400" dirty="0">
                <a:latin typeface="Adobe Ming Std L" panose="02020300000000000000" pitchFamily="18" charset="-128"/>
                <a:ea typeface="Adobe Ming Std L" panose="02020300000000000000" pitchFamily="18" charset="-128"/>
              </a:rPr>
              <a:t>with microprocessor interfacing</a:t>
            </a:r>
          </a:p>
        </p:txBody>
      </p:sp>
      <p:sp>
        <p:nvSpPr>
          <p:cNvPr id="4" name="TextBox 3">
            <a:extLst>
              <a:ext uri="{FF2B5EF4-FFF2-40B4-BE49-F238E27FC236}">
                <a16:creationId xmlns:a16="http://schemas.microsoft.com/office/drawing/2014/main" id="{5C0B2CF8-6519-4B49-9ADA-54EA343A0001}"/>
              </a:ext>
            </a:extLst>
          </p:cNvPr>
          <p:cNvSpPr txBox="1"/>
          <p:nvPr/>
        </p:nvSpPr>
        <p:spPr>
          <a:xfrm>
            <a:off x="513939" y="2018422"/>
            <a:ext cx="6641647" cy="369332"/>
          </a:xfrm>
          <a:prstGeom prst="rect">
            <a:avLst/>
          </a:prstGeom>
          <a:noFill/>
        </p:spPr>
        <p:txBody>
          <a:bodyPr wrap="square" rtlCol="0">
            <a:spAutoFit/>
          </a:bodyPr>
          <a:lstStyle/>
          <a:p>
            <a:r>
              <a:rPr lang="en-IN" dirty="0">
                <a:latin typeface="Adobe Ming Std L" panose="02020300000000000000" pitchFamily="18" charset="-128"/>
                <a:ea typeface="Adobe Ming Std L" panose="02020300000000000000" pitchFamily="18" charset="-128"/>
              </a:rPr>
              <a:t>A project for Microprocessor and Interfacing</a:t>
            </a:r>
          </a:p>
        </p:txBody>
      </p:sp>
      <p:sp>
        <p:nvSpPr>
          <p:cNvPr id="5" name="TextBox 4">
            <a:extLst>
              <a:ext uri="{FF2B5EF4-FFF2-40B4-BE49-F238E27FC236}">
                <a16:creationId xmlns:a16="http://schemas.microsoft.com/office/drawing/2014/main" id="{03BD9B8D-2C4B-46D6-9042-8EDDF601FDA0}"/>
              </a:ext>
            </a:extLst>
          </p:cNvPr>
          <p:cNvSpPr txBox="1"/>
          <p:nvPr/>
        </p:nvSpPr>
        <p:spPr>
          <a:xfrm>
            <a:off x="513939" y="4284732"/>
            <a:ext cx="4336869" cy="1477328"/>
          </a:xfrm>
          <a:prstGeom prst="rect">
            <a:avLst/>
          </a:prstGeom>
          <a:noFill/>
        </p:spPr>
        <p:txBody>
          <a:bodyPr wrap="square" rtlCol="0">
            <a:spAutoFit/>
          </a:bodyPr>
          <a:lstStyle/>
          <a:p>
            <a:r>
              <a:rPr lang="en-IN" dirty="0">
                <a:latin typeface="Adobe Ming Std L" panose="02020300000000000000" pitchFamily="18" charset="-128"/>
                <a:ea typeface="Adobe Ming Std L" panose="02020300000000000000" pitchFamily="18" charset="-128"/>
              </a:rPr>
              <a:t>By:</a:t>
            </a:r>
          </a:p>
          <a:p>
            <a:r>
              <a:rPr lang="en-IN" dirty="0">
                <a:latin typeface="Adobe Ming Std L" panose="02020300000000000000" pitchFamily="18" charset="-128"/>
                <a:ea typeface="Adobe Ming Std L" panose="02020300000000000000" pitchFamily="18" charset="-128"/>
              </a:rPr>
              <a:t>Rachit Saxena 20BCE2322</a:t>
            </a:r>
          </a:p>
          <a:p>
            <a:r>
              <a:rPr lang="en-IN" dirty="0">
                <a:latin typeface="Adobe Ming Std L" panose="02020300000000000000" pitchFamily="18" charset="-128"/>
                <a:ea typeface="Adobe Ming Std L" panose="02020300000000000000" pitchFamily="18" charset="-128"/>
              </a:rPr>
              <a:t>Nida Ghani 20BCE2850</a:t>
            </a:r>
          </a:p>
          <a:p>
            <a:r>
              <a:rPr lang="en-IN" dirty="0">
                <a:latin typeface="Adobe Ming Std L" panose="02020300000000000000" pitchFamily="18" charset="-128"/>
                <a:ea typeface="Adobe Ming Std L" panose="02020300000000000000" pitchFamily="18" charset="-128"/>
              </a:rPr>
              <a:t>Shiva Ramakrishna 20BCE2864</a:t>
            </a:r>
          </a:p>
          <a:p>
            <a:endParaRPr lang="en-IN" dirty="0">
              <a:latin typeface="Adobe Ming Std L" panose="02020300000000000000" pitchFamily="18" charset="-128"/>
              <a:ea typeface="Adobe Ming Std L" panose="02020300000000000000" pitchFamily="18" charset="-128"/>
            </a:endParaRPr>
          </a:p>
        </p:txBody>
      </p:sp>
      <p:sp>
        <p:nvSpPr>
          <p:cNvPr id="6" name="TextBox 5">
            <a:extLst>
              <a:ext uri="{FF2B5EF4-FFF2-40B4-BE49-F238E27FC236}">
                <a16:creationId xmlns:a16="http://schemas.microsoft.com/office/drawing/2014/main" id="{B2A6D363-D4C0-4E25-ABD6-8B0ED95EA1B7}"/>
              </a:ext>
            </a:extLst>
          </p:cNvPr>
          <p:cNvSpPr txBox="1"/>
          <p:nvPr/>
        </p:nvSpPr>
        <p:spPr>
          <a:xfrm>
            <a:off x="513940" y="2387754"/>
            <a:ext cx="6641647" cy="338554"/>
          </a:xfrm>
          <a:prstGeom prst="rect">
            <a:avLst/>
          </a:prstGeom>
          <a:noFill/>
        </p:spPr>
        <p:txBody>
          <a:bodyPr wrap="square" rtlCol="0">
            <a:spAutoFit/>
          </a:bodyPr>
          <a:lstStyle/>
          <a:p>
            <a:r>
              <a:rPr lang="en-IN" sz="1600" dirty="0">
                <a:latin typeface="Adobe Ming Std L" panose="02020300000000000000" pitchFamily="18" charset="-128"/>
                <a:ea typeface="Adobe Ming Std L" panose="02020300000000000000" pitchFamily="18" charset="-128"/>
              </a:rPr>
              <a:t>Review 1</a:t>
            </a:r>
          </a:p>
        </p:txBody>
      </p:sp>
    </p:spTree>
    <p:extLst>
      <p:ext uri="{BB962C8B-B14F-4D97-AF65-F5344CB8AC3E}">
        <p14:creationId xmlns:p14="http://schemas.microsoft.com/office/powerpoint/2010/main" val="2207660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3073B-1F8D-4EDA-8DC3-A511E6DBFAFA}"/>
              </a:ext>
            </a:extLst>
          </p:cNvPr>
          <p:cNvSpPr txBox="1">
            <a:spLocks/>
          </p:cNvSpPr>
          <p:nvPr/>
        </p:nvSpPr>
        <p:spPr>
          <a:xfrm>
            <a:off x="478971" y="263009"/>
            <a:ext cx="8290560" cy="838200"/>
          </a:xfrm>
          <a:prstGeom prst="rect">
            <a:avLst/>
          </a:prstGeom>
          <a:blipFill dpi="0" rotWithShape="1">
            <a:blip r:embed="rId3">
              <a:alphaModFix amt="0"/>
            </a:blip>
            <a:srcRect/>
            <a:tile tx="0" ty="0" sx="100000" sy="100000" flip="none" algn="tl"/>
          </a:blip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Times New Roman" panose="02020603050405020304" pitchFamily="18" charset="0"/>
                <a:cs typeface="Times New Roman" panose="02020603050405020304" pitchFamily="18" charset="0"/>
              </a:rPr>
              <a:t>Problem Statement</a:t>
            </a:r>
            <a:endParaRPr lang="en-IN" sz="3600" dirty="0">
              <a:latin typeface="Adobe Ming Std L" panose="02020300000000000000" pitchFamily="18" charset="-128"/>
              <a:ea typeface="Adobe Ming Std L" panose="02020300000000000000" pitchFamily="18" charset="-128"/>
            </a:endParaRPr>
          </a:p>
        </p:txBody>
      </p:sp>
      <p:sp>
        <p:nvSpPr>
          <p:cNvPr id="3" name="TextBox 2">
            <a:extLst>
              <a:ext uri="{FF2B5EF4-FFF2-40B4-BE49-F238E27FC236}">
                <a16:creationId xmlns:a16="http://schemas.microsoft.com/office/drawing/2014/main" id="{CAD44928-8E4B-4292-9B7D-D72BB6F5C335}"/>
              </a:ext>
            </a:extLst>
          </p:cNvPr>
          <p:cNvSpPr txBox="1"/>
          <p:nvPr/>
        </p:nvSpPr>
        <p:spPr>
          <a:xfrm>
            <a:off x="478971" y="1101209"/>
            <a:ext cx="11084379" cy="2677656"/>
          </a:xfrm>
          <a:prstGeom prst="rect">
            <a:avLst/>
          </a:prstGeom>
          <a:noFill/>
        </p:spPr>
        <p:txBody>
          <a:bodyPr wrap="square" rtlCol="0">
            <a:spAutoFit/>
          </a:bodyPr>
          <a:lstStyle/>
          <a:p>
            <a:pPr marL="285750" indent="-285750">
              <a:buFont typeface="Arial" panose="020B0604020202020204" pitchFamily="34" charset="0"/>
              <a:buChar char="•"/>
            </a:pPr>
            <a:r>
              <a:rPr lang="en-IN" sz="2800" dirty="0">
                <a:latin typeface="Adobe Ming Std L" panose="02020300000000000000" pitchFamily="18" charset="-128"/>
                <a:ea typeface="Adobe Ming Std L" panose="02020300000000000000" pitchFamily="18" charset="-128"/>
              </a:rPr>
              <a:t>We all know that  </a:t>
            </a:r>
            <a:r>
              <a:rPr lang="en-US" sz="2800" dirty="0">
                <a:latin typeface="Adobe Ming Std L" panose="02020300000000000000" pitchFamily="18" charset="-128"/>
                <a:ea typeface="Adobe Ming Std L" panose="02020300000000000000" pitchFamily="18" charset="-128"/>
              </a:rPr>
              <a:t>houseplants are good for our health. They not only freshen up the air, but also eliminate harmful toxins. Keeping your plants alive can be quite the challenge as they are very bad at communication. </a:t>
            </a:r>
          </a:p>
          <a:p>
            <a:pPr marL="285750" indent="-285750">
              <a:buFont typeface="Arial" panose="020B0604020202020204" pitchFamily="34" charset="0"/>
              <a:buChar char="•"/>
            </a:pPr>
            <a:r>
              <a:rPr lang="en-US" sz="2800" dirty="0">
                <a:latin typeface="Adobe Ming Std L" panose="02020300000000000000" pitchFamily="18" charset="-128"/>
                <a:ea typeface="Adobe Ming Std L" panose="02020300000000000000" pitchFamily="18" charset="-128"/>
              </a:rPr>
              <a:t>Moreover in  the last few decades the pace of life has accelerated and become as fast as never before. This is where the problem arises, because of our fast paced and busy life, we often forget to take care of our plants </a:t>
            </a:r>
          </a:p>
        </p:txBody>
      </p:sp>
    </p:spTree>
    <p:extLst>
      <p:ext uri="{BB962C8B-B14F-4D97-AF65-F5344CB8AC3E}">
        <p14:creationId xmlns:p14="http://schemas.microsoft.com/office/powerpoint/2010/main" val="1293360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3073B-1F8D-4EDA-8DC3-A511E6DBFAFA}"/>
              </a:ext>
            </a:extLst>
          </p:cNvPr>
          <p:cNvSpPr txBox="1">
            <a:spLocks/>
          </p:cNvSpPr>
          <p:nvPr/>
        </p:nvSpPr>
        <p:spPr>
          <a:xfrm>
            <a:off x="783771" y="421505"/>
            <a:ext cx="8290560" cy="838200"/>
          </a:xfrm>
          <a:prstGeom prst="rect">
            <a:avLst/>
          </a:prstGeom>
          <a:blipFill dpi="0" rotWithShape="1">
            <a:blip r:embed="rId3">
              <a:alphaModFix amt="0"/>
            </a:blip>
            <a:srcRect/>
            <a:tile tx="0" ty="0" sx="100000" sy="100000" flip="none" algn="tl"/>
          </a:blip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Times New Roman" panose="02020603050405020304" pitchFamily="18" charset="0"/>
                <a:cs typeface="Times New Roman" panose="02020603050405020304" pitchFamily="18" charset="0"/>
              </a:rPr>
              <a:t>Solution</a:t>
            </a:r>
            <a:endParaRPr lang="en-IN" sz="3600" dirty="0">
              <a:latin typeface="Adobe Ming Std L" panose="02020300000000000000" pitchFamily="18" charset="-128"/>
              <a:ea typeface="Adobe Ming Std L" panose="02020300000000000000" pitchFamily="18" charset="-128"/>
            </a:endParaRPr>
          </a:p>
        </p:txBody>
      </p:sp>
      <p:sp>
        <p:nvSpPr>
          <p:cNvPr id="3" name="TextBox 2">
            <a:extLst>
              <a:ext uri="{FF2B5EF4-FFF2-40B4-BE49-F238E27FC236}">
                <a16:creationId xmlns:a16="http://schemas.microsoft.com/office/drawing/2014/main" id="{CAD44928-8E4B-4292-9B7D-D72BB6F5C335}"/>
              </a:ext>
            </a:extLst>
          </p:cNvPr>
          <p:cNvSpPr txBox="1"/>
          <p:nvPr/>
        </p:nvSpPr>
        <p:spPr>
          <a:xfrm>
            <a:off x="478971" y="1101209"/>
            <a:ext cx="11084379" cy="6124754"/>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Adobe Ming Std L" panose="02020300000000000000" pitchFamily="18" charset="-128"/>
                <a:ea typeface="Adobe Ming Std L" panose="02020300000000000000" pitchFamily="18" charset="-128"/>
              </a:rPr>
              <a:t>Creating a communication tool that allows the interactors to perceive what the status of a plant is at a given point in time with the help of relevant microprocessors, microcontrollers and sensors.</a:t>
            </a:r>
          </a:p>
          <a:p>
            <a:pPr marL="285750" indent="-285750">
              <a:buFont typeface="Arial" panose="020B0604020202020204" pitchFamily="34" charset="0"/>
              <a:buChar char="•"/>
            </a:pPr>
            <a:r>
              <a:rPr lang="en-US" sz="2800" dirty="0">
                <a:latin typeface="Adobe Ming Std L" panose="02020300000000000000" pitchFamily="18" charset="-128"/>
                <a:ea typeface="Adobe Ming Std L" panose="02020300000000000000" pitchFamily="18" charset="-128"/>
              </a:rPr>
              <a:t>The tool expresses factors such as the humidity levels, moisture levels and exposure to sunlight by using an LCD display screen and an LED dot matrix. </a:t>
            </a:r>
          </a:p>
          <a:p>
            <a:pPr marL="285750" indent="-285750">
              <a:buFont typeface="Arial" panose="020B0604020202020204" pitchFamily="34" charset="0"/>
              <a:buChar char="•"/>
            </a:pPr>
            <a:r>
              <a:rPr lang="en-US" sz="2800" dirty="0">
                <a:latin typeface="Adobe Ming Std L" panose="02020300000000000000" pitchFamily="18" charset="-128"/>
                <a:ea typeface="Adobe Ming Std L" panose="02020300000000000000" pitchFamily="18" charset="-128"/>
              </a:rPr>
              <a:t>It stores the data sets perceived and defines the status of the plant by taking an average of the relevant parameters.</a:t>
            </a:r>
          </a:p>
          <a:p>
            <a:pPr marL="285750" indent="-285750">
              <a:buFont typeface="Arial" panose="020B0604020202020204" pitchFamily="34" charset="0"/>
              <a:buChar char="•"/>
            </a:pPr>
            <a:r>
              <a:rPr lang="en-US" sz="2800" dirty="0">
                <a:latin typeface="Adobe Ming Std L" panose="02020300000000000000" pitchFamily="18" charset="-128"/>
                <a:ea typeface="Adobe Ming Std L" panose="02020300000000000000" pitchFamily="18" charset="-128"/>
              </a:rPr>
              <a:t>This way the user can always tell when they need to take better care of the plant. </a:t>
            </a:r>
          </a:p>
          <a:p>
            <a:pPr marL="285750" indent="-285750">
              <a:buFont typeface="Arial" panose="020B0604020202020204" pitchFamily="34" charset="0"/>
              <a:buChar char="•"/>
            </a:pPr>
            <a:endParaRPr lang="en-US" sz="2800" dirty="0">
              <a:latin typeface="Adobe Ming Std L" panose="02020300000000000000" pitchFamily="18" charset="-128"/>
              <a:ea typeface="Adobe Ming Std L" panose="02020300000000000000" pitchFamily="18" charset="-128"/>
            </a:endParaRPr>
          </a:p>
          <a:p>
            <a:pPr marL="285750" indent="-285750">
              <a:buFont typeface="Arial" panose="020B0604020202020204" pitchFamily="34" charset="0"/>
              <a:buChar char="•"/>
            </a:pPr>
            <a:endParaRPr lang="en-US" sz="2800" dirty="0">
              <a:latin typeface="Adobe Ming Std L" panose="02020300000000000000" pitchFamily="18" charset="-128"/>
              <a:ea typeface="Adobe Ming Std L" panose="02020300000000000000" pitchFamily="18" charset="-128"/>
            </a:endParaRPr>
          </a:p>
          <a:p>
            <a:pPr marL="285750" indent="-285750">
              <a:buFont typeface="Arial" panose="020B0604020202020204" pitchFamily="34" charset="0"/>
              <a:buChar char="•"/>
            </a:pPr>
            <a:endParaRPr lang="en-US" sz="2800" dirty="0">
              <a:latin typeface="Adobe Ming Std L" panose="02020300000000000000" pitchFamily="18" charset="-128"/>
              <a:ea typeface="Adobe Ming Std L" panose="02020300000000000000" pitchFamily="18" charset="-128"/>
            </a:endParaRPr>
          </a:p>
          <a:p>
            <a:pPr marL="285750" indent="-285750">
              <a:buFont typeface="Arial" panose="020B0604020202020204" pitchFamily="34" charset="0"/>
              <a:buChar char="•"/>
            </a:pPr>
            <a:endParaRPr lang="en-US" sz="2800" dirty="0">
              <a:latin typeface="Adobe Ming Std L" panose="02020300000000000000" pitchFamily="18" charset="-128"/>
              <a:ea typeface="Adobe Ming Std L" panose="02020300000000000000" pitchFamily="18" charset="-128"/>
            </a:endParaRPr>
          </a:p>
        </p:txBody>
      </p:sp>
    </p:spTree>
    <p:extLst>
      <p:ext uri="{BB962C8B-B14F-4D97-AF65-F5344CB8AC3E}">
        <p14:creationId xmlns:p14="http://schemas.microsoft.com/office/powerpoint/2010/main" val="3182760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3073B-1F8D-4EDA-8DC3-A511E6DBFAFA}"/>
              </a:ext>
            </a:extLst>
          </p:cNvPr>
          <p:cNvSpPr txBox="1">
            <a:spLocks/>
          </p:cNvSpPr>
          <p:nvPr/>
        </p:nvSpPr>
        <p:spPr>
          <a:xfrm>
            <a:off x="936543" y="114870"/>
            <a:ext cx="8290560" cy="333366"/>
          </a:xfrm>
          <a:prstGeom prst="rect">
            <a:avLst/>
          </a:prstGeom>
          <a:blipFill dpi="0" rotWithShape="1">
            <a:blip r:embed="rId3">
              <a:alphaModFix amt="0"/>
            </a:blip>
            <a:srcRect/>
            <a:tile tx="0" ty="0" sx="100000" sy="100000" flip="none" algn="tl"/>
          </a:blip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600" dirty="0">
                <a:latin typeface="Times New Roman" panose="02020603050405020304" pitchFamily="18" charset="0"/>
                <a:ea typeface="Adobe Ming Std L" panose="02020300000000000000" pitchFamily="18" charset="-128"/>
                <a:cs typeface="Times New Roman" panose="02020603050405020304" pitchFamily="18" charset="0"/>
              </a:rPr>
              <a:t>Lean Chart</a:t>
            </a:r>
            <a:endParaRPr lang="en-IN" sz="1600" dirty="0">
              <a:latin typeface="Adobe Ming Std L" panose="02020300000000000000" pitchFamily="18" charset="-128"/>
              <a:ea typeface="Adobe Ming Std L" panose="02020300000000000000" pitchFamily="18" charset="-128"/>
            </a:endParaRPr>
          </a:p>
        </p:txBody>
      </p:sp>
      <p:sp>
        <p:nvSpPr>
          <p:cNvPr id="3" name="TextBox 2">
            <a:extLst>
              <a:ext uri="{FF2B5EF4-FFF2-40B4-BE49-F238E27FC236}">
                <a16:creationId xmlns:a16="http://schemas.microsoft.com/office/drawing/2014/main" id="{CAD44928-8E4B-4292-9B7D-D72BB6F5C335}"/>
              </a:ext>
            </a:extLst>
          </p:cNvPr>
          <p:cNvSpPr txBox="1"/>
          <p:nvPr/>
        </p:nvSpPr>
        <p:spPr>
          <a:xfrm>
            <a:off x="478971" y="1074315"/>
            <a:ext cx="11084379" cy="1815882"/>
          </a:xfrm>
          <a:prstGeom prst="rect">
            <a:avLst/>
          </a:prstGeom>
          <a:noFill/>
        </p:spPr>
        <p:txBody>
          <a:bodyPr wrap="square" rtlCol="0">
            <a:spAutoFit/>
          </a:bodyPr>
          <a:lstStyle/>
          <a:p>
            <a:pPr marL="285750" indent="-285750">
              <a:buFont typeface="Arial" panose="020B0604020202020204" pitchFamily="34" charset="0"/>
              <a:buChar char="•"/>
            </a:pPr>
            <a:endParaRPr lang="en-US" sz="2800" dirty="0">
              <a:latin typeface="Adobe Ming Std L" panose="02020300000000000000" pitchFamily="18" charset="-128"/>
              <a:ea typeface="Adobe Ming Std L" panose="02020300000000000000" pitchFamily="18" charset="-128"/>
            </a:endParaRPr>
          </a:p>
          <a:p>
            <a:pPr marL="285750" indent="-285750">
              <a:buFont typeface="Arial" panose="020B0604020202020204" pitchFamily="34" charset="0"/>
              <a:buChar char="•"/>
            </a:pPr>
            <a:endParaRPr lang="en-US" sz="2800" dirty="0">
              <a:latin typeface="Adobe Ming Std L" panose="02020300000000000000" pitchFamily="18" charset="-128"/>
              <a:ea typeface="Adobe Ming Std L" panose="02020300000000000000" pitchFamily="18" charset="-128"/>
            </a:endParaRPr>
          </a:p>
          <a:p>
            <a:pPr marL="285750" indent="-285750">
              <a:buFont typeface="Arial" panose="020B0604020202020204" pitchFamily="34" charset="0"/>
              <a:buChar char="•"/>
            </a:pPr>
            <a:endParaRPr lang="en-US" sz="2800" dirty="0">
              <a:latin typeface="Adobe Ming Std L" panose="02020300000000000000" pitchFamily="18" charset="-128"/>
              <a:ea typeface="Adobe Ming Std L" panose="02020300000000000000" pitchFamily="18" charset="-128"/>
            </a:endParaRPr>
          </a:p>
          <a:p>
            <a:pPr marL="285750" indent="-285750">
              <a:buFont typeface="Arial" panose="020B0604020202020204" pitchFamily="34" charset="0"/>
              <a:buChar char="•"/>
            </a:pPr>
            <a:endParaRPr lang="en-US" sz="2800" dirty="0">
              <a:latin typeface="Adobe Ming Std L" panose="02020300000000000000" pitchFamily="18" charset="-128"/>
              <a:ea typeface="Adobe Ming Std L" panose="02020300000000000000" pitchFamily="18" charset="-128"/>
            </a:endParaRPr>
          </a:p>
        </p:txBody>
      </p:sp>
      <p:pic>
        <p:nvPicPr>
          <p:cNvPr id="5" name="Picture 4">
            <a:extLst>
              <a:ext uri="{FF2B5EF4-FFF2-40B4-BE49-F238E27FC236}">
                <a16:creationId xmlns:a16="http://schemas.microsoft.com/office/drawing/2014/main" id="{9AC86FD3-E3EA-A3FE-DD88-804B3CF79B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3770" y="448236"/>
            <a:ext cx="8596105" cy="6424217"/>
          </a:xfrm>
          <a:prstGeom prst="rect">
            <a:avLst/>
          </a:prstGeom>
        </p:spPr>
      </p:pic>
    </p:spTree>
    <p:extLst>
      <p:ext uri="{BB962C8B-B14F-4D97-AF65-F5344CB8AC3E}">
        <p14:creationId xmlns:p14="http://schemas.microsoft.com/office/powerpoint/2010/main" val="1853439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3073B-1F8D-4EDA-8DC3-A511E6DBFAFA}"/>
              </a:ext>
            </a:extLst>
          </p:cNvPr>
          <p:cNvSpPr txBox="1">
            <a:spLocks/>
          </p:cNvSpPr>
          <p:nvPr/>
        </p:nvSpPr>
        <p:spPr>
          <a:xfrm>
            <a:off x="783771" y="421505"/>
            <a:ext cx="8290560" cy="838200"/>
          </a:xfrm>
          <a:prstGeom prst="rect">
            <a:avLst/>
          </a:prstGeom>
          <a:blipFill dpi="0" rotWithShape="1">
            <a:blip r:embed="rId3">
              <a:alphaModFix amt="0"/>
            </a:blip>
            <a:srcRect/>
            <a:tile tx="0" ty="0" sx="100000" sy="100000" flip="none" algn="tl"/>
          </a:blip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Unique Value Proposition</a:t>
            </a:r>
            <a:endParaRPr lang="en-IN" sz="3600" dirty="0">
              <a:latin typeface="Adobe Ming Std L" panose="02020300000000000000" pitchFamily="18" charset="-128"/>
              <a:ea typeface="Adobe Ming Std L" panose="02020300000000000000" pitchFamily="18" charset="-128"/>
            </a:endParaRPr>
          </a:p>
        </p:txBody>
      </p:sp>
      <p:sp>
        <p:nvSpPr>
          <p:cNvPr id="3" name="TextBox 2">
            <a:extLst>
              <a:ext uri="{FF2B5EF4-FFF2-40B4-BE49-F238E27FC236}">
                <a16:creationId xmlns:a16="http://schemas.microsoft.com/office/drawing/2014/main" id="{CAD44928-8E4B-4292-9B7D-D72BB6F5C335}"/>
              </a:ext>
            </a:extLst>
          </p:cNvPr>
          <p:cNvSpPr txBox="1"/>
          <p:nvPr/>
        </p:nvSpPr>
        <p:spPr>
          <a:xfrm>
            <a:off x="478971" y="1101209"/>
            <a:ext cx="11084379" cy="3539430"/>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Adobe Ming Std L" panose="02020300000000000000" pitchFamily="18" charset="-128"/>
                <a:ea typeface="Adobe Ming Std L" panose="02020300000000000000" pitchFamily="18" charset="-128"/>
              </a:rPr>
              <a:t>It is a system that is designed to express what a plant feels or, in  a way, gives them a face to express their needs.</a:t>
            </a:r>
          </a:p>
          <a:p>
            <a:pPr marL="457200" indent="-457200">
              <a:buFont typeface="Arial" panose="020B0604020202020204" pitchFamily="34" charset="0"/>
              <a:buChar char="•"/>
            </a:pPr>
            <a:r>
              <a:rPr lang="en-US" sz="2800" dirty="0">
                <a:latin typeface="Adobe Ming Std L" panose="02020300000000000000" pitchFamily="18" charset="-128"/>
                <a:ea typeface="Adobe Ming Std L" panose="02020300000000000000" pitchFamily="18" charset="-128"/>
              </a:rPr>
              <a:t>Design and Implementation of the project with Arduino. </a:t>
            </a:r>
          </a:p>
          <a:p>
            <a:pPr marL="457200" indent="-457200">
              <a:buFont typeface="Arial" panose="020B0604020202020204" pitchFamily="34" charset="0"/>
              <a:buChar char="•"/>
            </a:pPr>
            <a:r>
              <a:rPr lang="en-US" sz="2800" dirty="0">
                <a:latin typeface="Adobe Ming Std L" panose="02020300000000000000" pitchFamily="18" charset="-128"/>
                <a:ea typeface="Adobe Ming Std L" panose="02020300000000000000" pitchFamily="18" charset="-128"/>
              </a:rPr>
              <a:t>Displaying the parameters to keep the plant in good condition.</a:t>
            </a:r>
          </a:p>
          <a:p>
            <a:pPr marL="285750" indent="-285750">
              <a:buFont typeface="Arial" panose="020B0604020202020204" pitchFamily="34" charset="0"/>
              <a:buChar char="•"/>
            </a:pPr>
            <a:endParaRPr lang="en-US" sz="2800" dirty="0">
              <a:latin typeface="Adobe Ming Std L" panose="02020300000000000000" pitchFamily="18" charset="-128"/>
              <a:ea typeface="Adobe Ming Std L" panose="02020300000000000000" pitchFamily="18" charset="-128"/>
            </a:endParaRPr>
          </a:p>
          <a:p>
            <a:pPr marL="285750" indent="-285750">
              <a:buFont typeface="Arial" panose="020B0604020202020204" pitchFamily="34" charset="0"/>
              <a:buChar char="•"/>
            </a:pPr>
            <a:endParaRPr lang="en-US" sz="2800" dirty="0">
              <a:latin typeface="Adobe Ming Std L" panose="02020300000000000000" pitchFamily="18" charset="-128"/>
              <a:ea typeface="Adobe Ming Std L" panose="02020300000000000000" pitchFamily="18" charset="-128"/>
            </a:endParaRPr>
          </a:p>
          <a:p>
            <a:pPr marL="285750" indent="-285750">
              <a:buFont typeface="Arial" panose="020B0604020202020204" pitchFamily="34" charset="0"/>
              <a:buChar char="•"/>
            </a:pPr>
            <a:endParaRPr lang="en-US" sz="2800" dirty="0">
              <a:latin typeface="Adobe Ming Std L" panose="02020300000000000000" pitchFamily="18" charset="-128"/>
              <a:ea typeface="Adobe Ming Std L" panose="02020300000000000000" pitchFamily="18" charset="-128"/>
            </a:endParaRPr>
          </a:p>
          <a:p>
            <a:pPr marL="285750" indent="-285750">
              <a:buFont typeface="Arial" panose="020B0604020202020204" pitchFamily="34" charset="0"/>
              <a:buChar char="•"/>
            </a:pPr>
            <a:endParaRPr lang="en-US" sz="2800" dirty="0">
              <a:latin typeface="Adobe Ming Std L" panose="02020300000000000000" pitchFamily="18" charset="-128"/>
              <a:ea typeface="Adobe Ming Std L" panose="02020300000000000000" pitchFamily="18" charset="-128"/>
            </a:endParaRPr>
          </a:p>
        </p:txBody>
      </p:sp>
    </p:spTree>
    <p:extLst>
      <p:ext uri="{BB962C8B-B14F-4D97-AF65-F5344CB8AC3E}">
        <p14:creationId xmlns:p14="http://schemas.microsoft.com/office/powerpoint/2010/main" val="2224472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D6739-EFA3-49DB-9B51-6F2314F41C62}"/>
              </a:ext>
            </a:extLst>
          </p:cNvPr>
          <p:cNvSpPr txBox="1">
            <a:spLocks/>
          </p:cNvSpPr>
          <p:nvPr/>
        </p:nvSpPr>
        <p:spPr>
          <a:xfrm>
            <a:off x="431346" y="159476"/>
            <a:ext cx="2511879" cy="838200"/>
          </a:xfrm>
          <a:prstGeom prst="rect">
            <a:avLst/>
          </a:prstGeom>
          <a:blipFill dpi="0" rotWithShape="1">
            <a:blip r:embed="rId3">
              <a:alphaModFix amt="0"/>
            </a:blip>
            <a:srcRect/>
            <a:tile tx="0" ty="0" sx="100000" sy="100000" flip="none" algn="tl"/>
          </a:blip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dirty="0">
                <a:latin typeface="Adobe Ming Std L" panose="02020300000000000000" pitchFamily="18" charset="-128"/>
                <a:ea typeface="Adobe Ming Std L" panose="02020300000000000000" pitchFamily="18" charset="-128"/>
              </a:rPr>
              <a:t>Objectives </a:t>
            </a:r>
          </a:p>
        </p:txBody>
      </p:sp>
      <p:sp>
        <p:nvSpPr>
          <p:cNvPr id="3" name="TextBox 2">
            <a:extLst>
              <a:ext uri="{FF2B5EF4-FFF2-40B4-BE49-F238E27FC236}">
                <a16:creationId xmlns:a16="http://schemas.microsoft.com/office/drawing/2014/main" id="{B566F918-F950-4340-8BA7-98B89653A40E}"/>
              </a:ext>
            </a:extLst>
          </p:cNvPr>
          <p:cNvSpPr txBox="1"/>
          <p:nvPr/>
        </p:nvSpPr>
        <p:spPr>
          <a:xfrm>
            <a:off x="431346" y="997676"/>
            <a:ext cx="10208079" cy="3139321"/>
          </a:xfrm>
          <a:prstGeom prst="rect">
            <a:avLst/>
          </a:prstGeom>
          <a:noFill/>
        </p:spPr>
        <p:txBody>
          <a:bodyPr wrap="square" rtlCol="0">
            <a:spAutoFit/>
          </a:bodyPr>
          <a:lstStyle/>
          <a:p>
            <a:r>
              <a:rPr lang="en-IN" dirty="0">
                <a:latin typeface="Adobe Ming Std L" panose="02020300000000000000" pitchFamily="18" charset="-128"/>
                <a:ea typeface="Adobe Ming Std L" panose="02020300000000000000" pitchFamily="18" charset="-128"/>
              </a:rPr>
              <a:t>In this project , we plan to build a plant communication system, which will help us keep a check on the plant needs. It will tell us if the plant is facing any difficulties so that we can help it as soon as possible.</a:t>
            </a:r>
          </a:p>
          <a:p>
            <a:br>
              <a:rPr lang="en-IN" dirty="0">
                <a:latin typeface="Adobe Ming Std L" panose="02020300000000000000" pitchFamily="18" charset="-128"/>
                <a:ea typeface="Adobe Ming Std L" panose="02020300000000000000" pitchFamily="18" charset="-128"/>
              </a:rPr>
            </a:br>
            <a:r>
              <a:rPr lang="en-IN" dirty="0">
                <a:latin typeface="Adobe Ming Std L" panose="02020300000000000000" pitchFamily="18" charset="-128"/>
                <a:ea typeface="Adobe Ming Std L" panose="02020300000000000000" pitchFamily="18" charset="-128"/>
              </a:rPr>
              <a:t>We plan to accomplish the following at the end of this project. </a:t>
            </a:r>
          </a:p>
          <a:p>
            <a:br>
              <a:rPr lang="en-IN" dirty="0">
                <a:latin typeface="Adobe Ming Std L" panose="02020300000000000000" pitchFamily="18" charset="-128"/>
                <a:ea typeface="Adobe Ming Std L" panose="02020300000000000000" pitchFamily="18" charset="-128"/>
              </a:rPr>
            </a:br>
            <a:r>
              <a:rPr lang="en-IN" dirty="0">
                <a:latin typeface="Adobe Ming Std L" panose="02020300000000000000" pitchFamily="18" charset="-128"/>
                <a:ea typeface="Adobe Ming Std L" panose="02020300000000000000" pitchFamily="18" charset="-128"/>
              </a:rPr>
              <a:t>a. Understand the working of the various sensors used in our project.</a:t>
            </a:r>
            <a:br>
              <a:rPr lang="en-IN" dirty="0">
                <a:latin typeface="Adobe Ming Std L" panose="02020300000000000000" pitchFamily="18" charset="-128"/>
                <a:ea typeface="Adobe Ming Std L" panose="02020300000000000000" pitchFamily="18" charset="-128"/>
              </a:rPr>
            </a:br>
            <a:r>
              <a:rPr lang="en-IN" dirty="0">
                <a:latin typeface="Adobe Ming Std L" panose="02020300000000000000" pitchFamily="18" charset="-128"/>
                <a:ea typeface="Adobe Ming Std L" panose="02020300000000000000" pitchFamily="18" charset="-128"/>
              </a:rPr>
              <a:t>b. Study about the various Merits and Demerits of the sensors used.</a:t>
            </a:r>
          </a:p>
          <a:p>
            <a:r>
              <a:rPr lang="en-IN" dirty="0">
                <a:latin typeface="Adobe Ming Std L" panose="02020300000000000000" pitchFamily="18" charset="-128"/>
                <a:ea typeface="Adobe Ming Std L" panose="02020300000000000000" pitchFamily="18" charset="-128"/>
              </a:rPr>
              <a:t>c. Have a basic idea about Arduino and its working</a:t>
            </a:r>
          </a:p>
          <a:p>
            <a:r>
              <a:rPr lang="en-IN" dirty="0">
                <a:latin typeface="Adobe Ming Std L" panose="02020300000000000000" pitchFamily="18" charset="-128"/>
                <a:ea typeface="Adobe Ming Std L" panose="02020300000000000000" pitchFamily="18" charset="-128"/>
              </a:rPr>
              <a:t>d. Learn more about coding in the Arduino IDE with C language</a:t>
            </a:r>
          </a:p>
          <a:p>
            <a:r>
              <a:rPr lang="en-IN" dirty="0">
                <a:latin typeface="Adobe Ming Std L" panose="02020300000000000000" pitchFamily="18" charset="-128"/>
                <a:ea typeface="Adobe Ming Std L" panose="02020300000000000000" pitchFamily="18" charset="-128"/>
              </a:rPr>
              <a:t>e. Learn about the various conditions that the plants are most suitable to grow in</a:t>
            </a:r>
          </a:p>
          <a:p>
            <a:r>
              <a:rPr lang="en-IN" dirty="0">
                <a:latin typeface="Adobe Ming Std L" panose="02020300000000000000" pitchFamily="18" charset="-128"/>
                <a:ea typeface="Adobe Ming Std L" panose="02020300000000000000" pitchFamily="18" charset="-128"/>
              </a:rPr>
              <a:t>f. Construct the hardware model of the full plant communicator</a:t>
            </a:r>
          </a:p>
        </p:txBody>
      </p:sp>
      <p:sp>
        <p:nvSpPr>
          <p:cNvPr id="4" name="TextBox 3">
            <a:extLst>
              <a:ext uri="{FF2B5EF4-FFF2-40B4-BE49-F238E27FC236}">
                <a16:creationId xmlns:a16="http://schemas.microsoft.com/office/drawing/2014/main" id="{9677F94F-12C8-416F-B166-A2BF9969962A}"/>
              </a:ext>
            </a:extLst>
          </p:cNvPr>
          <p:cNvSpPr txBox="1"/>
          <p:nvPr/>
        </p:nvSpPr>
        <p:spPr>
          <a:xfrm>
            <a:off x="431346" y="4967994"/>
            <a:ext cx="7962436" cy="1200329"/>
          </a:xfrm>
          <a:prstGeom prst="rect">
            <a:avLst/>
          </a:prstGeom>
          <a:noFill/>
        </p:spPr>
        <p:txBody>
          <a:bodyPr wrap="none" rtlCol="0">
            <a:spAutoFit/>
          </a:bodyPr>
          <a:lstStyle/>
          <a:p>
            <a:endParaRPr lang="en-IN" dirty="0">
              <a:latin typeface="Adobe Ming Std L" panose="02020300000000000000" pitchFamily="18" charset="-128"/>
              <a:ea typeface="Adobe Ming Std L" panose="02020300000000000000" pitchFamily="18" charset="-128"/>
            </a:endParaRPr>
          </a:p>
          <a:p>
            <a:r>
              <a:rPr lang="en-IN" dirty="0">
                <a:latin typeface="Adobe Ming Std L" panose="02020300000000000000" pitchFamily="18" charset="-128"/>
                <a:ea typeface="Adobe Ming Std L" panose="02020300000000000000" pitchFamily="18" charset="-128"/>
              </a:rPr>
              <a:t>With this we can provide our plants with a face, so that even the busiest </a:t>
            </a:r>
          </a:p>
          <a:p>
            <a:r>
              <a:rPr lang="en-IN" dirty="0">
                <a:latin typeface="Adobe Ming Std L" panose="02020300000000000000" pitchFamily="18" charset="-128"/>
                <a:ea typeface="Adobe Ming Std L" panose="02020300000000000000" pitchFamily="18" charset="-128"/>
              </a:rPr>
              <a:t>of people can find a little time to take care of their plants and make them</a:t>
            </a:r>
          </a:p>
          <a:p>
            <a:r>
              <a:rPr lang="en-IN" dirty="0">
                <a:latin typeface="Adobe Ming Std L" panose="02020300000000000000" pitchFamily="18" charset="-128"/>
                <a:ea typeface="Adobe Ming Std L" panose="02020300000000000000" pitchFamily="18" charset="-128"/>
              </a:rPr>
              <a:t>happy.</a:t>
            </a:r>
          </a:p>
        </p:txBody>
      </p:sp>
    </p:spTree>
    <p:extLst>
      <p:ext uri="{BB962C8B-B14F-4D97-AF65-F5344CB8AC3E}">
        <p14:creationId xmlns:p14="http://schemas.microsoft.com/office/powerpoint/2010/main" val="1816373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0991A-8FAA-460A-8CE7-96C1957277A6}"/>
              </a:ext>
            </a:extLst>
          </p:cNvPr>
          <p:cNvSpPr txBox="1">
            <a:spLocks/>
          </p:cNvSpPr>
          <p:nvPr/>
        </p:nvSpPr>
        <p:spPr>
          <a:xfrm>
            <a:off x="393246" y="257348"/>
            <a:ext cx="3435804" cy="838200"/>
          </a:xfrm>
          <a:prstGeom prst="rect">
            <a:avLst/>
          </a:prstGeom>
          <a:blipFill dpi="0" rotWithShape="1">
            <a:blip r:embed="rId3">
              <a:alphaModFix amt="0"/>
            </a:blip>
            <a:srcRect/>
            <a:tile tx="0" ty="0" sx="100000" sy="100000" flip="none" algn="tl"/>
          </a:blip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dirty="0">
                <a:latin typeface="Adobe Ming Std L" panose="02020300000000000000" pitchFamily="18" charset="-128"/>
                <a:ea typeface="Adobe Ming Std L" panose="02020300000000000000" pitchFamily="18" charset="-128"/>
              </a:rPr>
              <a:t>Methodology </a:t>
            </a:r>
            <a:r>
              <a:rPr lang="en-IN" sz="4000" dirty="0">
                <a:latin typeface="Adobe Ming Std L" panose="02020300000000000000" pitchFamily="18" charset="-128"/>
                <a:ea typeface="Adobe Ming Std L" panose="02020300000000000000" pitchFamily="18" charset="-128"/>
              </a:rPr>
              <a:t> </a:t>
            </a:r>
          </a:p>
        </p:txBody>
      </p:sp>
      <p:sp>
        <p:nvSpPr>
          <p:cNvPr id="4" name="TextBox 3">
            <a:extLst>
              <a:ext uri="{FF2B5EF4-FFF2-40B4-BE49-F238E27FC236}">
                <a16:creationId xmlns:a16="http://schemas.microsoft.com/office/drawing/2014/main" id="{E15B1C4C-A571-4E47-9C47-830B1CAC952D}"/>
              </a:ext>
            </a:extLst>
          </p:cNvPr>
          <p:cNvSpPr txBox="1"/>
          <p:nvPr/>
        </p:nvSpPr>
        <p:spPr>
          <a:xfrm>
            <a:off x="393246" y="1277519"/>
            <a:ext cx="10894202" cy="584775"/>
          </a:xfrm>
          <a:prstGeom prst="rect">
            <a:avLst/>
          </a:prstGeom>
          <a:noFill/>
        </p:spPr>
        <p:txBody>
          <a:bodyPr wrap="square" rtlCol="0">
            <a:spAutoFit/>
          </a:bodyPr>
          <a:lstStyle/>
          <a:p>
            <a:r>
              <a:rPr lang="en-IN" sz="1600" dirty="0">
                <a:latin typeface="Adobe Ming Std L" panose="02020300000000000000" pitchFamily="18" charset="-128"/>
                <a:ea typeface="Adobe Ming Std L" panose="02020300000000000000" pitchFamily="18" charset="-128"/>
              </a:rPr>
              <a:t>The brains of our project will be an Arduino – Uno. It is actually a microcontroller with 14 digital I/O  pins and 6 </a:t>
            </a:r>
            <a:r>
              <a:rPr lang="en-IN" sz="1600" dirty="0" err="1">
                <a:latin typeface="Adobe Ming Std L" panose="02020300000000000000" pitchFamily="18" charset="-128"/>
                <a:ea typeface="Adobe Ming Std L" panose="02020300000000000000" pitchFamily="18" charset="-128"/>
              </a:rPr>
              <a:t>analog</a:t>
            </a:r>
            <a:r>
              <a:rPr lang="en-IN" sz="1600" dirty="0">
                <a:latin typeface="Adobe Ming Std L" panose="02020300000000000000" pitchFamily="18" charset="-128"/>
                <a:ea typeface="Adobe Ming Std L" panose="02020300000000000000" pitchFamily="18" charset="-128"/>
              </a:rPr>
              <a:t>  I/O pins.  It can be programmed in C++ language. </a:t>
            </a:r>
            <a:endParaRPr lang="en-IN" dirty="0"/>
          </a:p>
        </p:txBody>
      </p:sp>
      <p:sp>
        <p:nvSpPr>
          <p:cNvPr id="6" name="TextBox 5">
            <a:extLst>
              <a:ext uri="{FF2B5EF4-FFF2-40B4-BE49-F238E27FC236}">
                <a16:creationId xmlns:a16="http://schemas.microsoft.com/office/drawing/2014/main" id="{FD48B234-EE6F-4AE0-B2AD-AB561F6629CE}"/>
              </a:ext>
            </a:extLst>
          </p:cNvPr>
          <p:cNvSpPr txBox="1"/>
          <p:nvPr/>
        </p:nvSpPr>
        <p:spPr>
          <a:xfrm>
            <a:off x="393246" y="2254976"/>
            <a:ext cx="11106150" cy="3539430"/>
          </a:xfrm>
          <a:prstGeom prst="rect">
            <a:avLst/>
          </a:prstGeom>
          <a:noFill/>
        </p:spPr>
        <p:txBody>
          <a:bodyPr wrap="square" rtlCol="0">
            <a:spAutoFit/>
          </a:bodyPr>
          <a:lstStyle/>
          <a:p>
            <a:r>
              <a:rPr lang="en-IN" sz="1600" dirty="0">
                <a:latin typeface="Adobe Ming Std L" panose="02020300000000000000" pitchFamily="18" charset="-128"/>
                <a:ea typeface="Adobe Ming Std L" panose="02020300000000000000" pitchFamily="18" charset="-128"/>
              </a:rPr>
              <a:t>All our Sensors, displays will be connected to the Arduino using the jumper cables and the breadboard. Our Code will be plant specific i.e. all the conditions (temperature, light intensity) will be based on a particular plant. This code will be compiled and uploaded to the Arduino with the Arduino IDE. </a:t>
            </a:r>
          </a:p>
          <a:p>
            <a:endParaRPr lang="en-IN" sz="1600" dirty="0">
              <a:latin typeface="Adobe Ming Std L" panose="02020300000000000000" pitchFamily="18" charset="-128"/>
              <a:ea typeface="Adobe Ming Std L" panose="02020300000000000000" pitchFamily="18" charset="-128"/>
            </a:endParaRPr>
          </a:p>
          <a:p>
            <a:r>
              <a:rPr lang="en-IN" sz="1600" dirty="0">
                <a:latin typeface="Adobe Ming Std L" panose="02020300000000000000" pitchFamily="18" charset="-128"/>
                <a:ea typeface="Adobe Ming Std L" panose="02020300000000000000" pitchFamily="18" charset="-128"/>
              </a:rPr>
              <a:t>At first, all the data from the sensors will be collected, and displayed to the user one by one with a delay. </a:t>
            </a:r>
          </a:p>
          <a:p>
            <a:r>
              <a:rPr lang="en-IN" sz="1600" dirty="0">
                <a:latin typeface="Adobe Ming Std L" panose="02020300000000000000" pitchFamily="18" charset="-128"/>
                <a:ea typeface="Adobe Ming Std L" panose="02020300000000000000" pitchFamily="18" charset="-128"/>
              </a:rPr>
              <a:t>Each of the parameter will have a score from 1-3. Based on the conditions of the plant ,</a:t>
            </a:r>
          </a:p>
          <a:p>
            <a:r>
              <a:rPr lang="en-IN" sz="1600" dirty="0">
                <a:latin typeface="Adobe Ming Std L" panose="02020300000000000000" pitchFamily="18" charset="-128"/>
                <a:ea typeface="Adobe Ming Std L" panose="02020300000000000000" pitchFamily="18" charset="-128"/>
              </a:rPr>
              <a:t>the score will be higher/ lower. Finally the average score of all the parameters will be </a:t>
            </a:r>
          </a:p>
          <a:p>
            <a:r>
              <a:rPr lang="en-IN" sz="1600" dirty="0">
                <a:latin typeface="Adobe Ming Std L" panose="02020300000000000000" pitchFamily="18" charset="-128"/>
                <a:ea typeface="Adobe Ming Std L" panose="02020300000000000000" pitchFamily="18" charset="-128"/>
              </a:rPr>
              <a:t>taken, and the user will be shown the score. This score will help the user know exactly</a:t>
            </a:r>
          </a:p>
          <a:p>
            <a:r>
              <a:rPr lang="en-IN" sz="1600" dirty="0">
                <a:latin typeface="Adobe Ming Std L" panose="02020300000000000000" pitchFamily="18" charset="-128"/>
                <a:ea typeface="Adobe Ming Std L" panose="02020300000000000000" pitchFamily="18" charset="-128"/>
              </a:rPr>
              <a:t>how well they have taken care of the plant.</a:t>
            </a:r>
          </a:p>
          <a:p>
            <a:endParaRPr lang="en-IN" sz="1600" dirty="0">
              <a:latin typeface="Adobe Ming Std L" panose="02020300000000000000" pitchFamily="18" charset="-128"/>
              <a:ea typeface="Adobe Ming Std L" panose="02020300000000000000" pitchFamily="18" charset="-128"/>
            </a:endParaRPr>
          </a:p>
          <a:p>
            <a:r>
              <a:rPr lang="en-IN" sz="1600" dirty="0">
                <a:latin typeface="Adobe Ming Std L" panose="02020300000000000000" pitchFamily="18" charset="-128"/>
                <a:ea typeface="Adobe Ming Std L" panose="02020300000000000000" pitchFamily="18" charset="-128"/>
              </a:rPr>
              <a:t>Now based on this score, the 8x8 LED Dot matrix will display a face.</a:t>
            </a:r>
          </a:p>
          <a:p>
            <a:r>
              <a:rPr lang="en-IN" sz="1600" dirty="0">
                <a:latin typeface="Adobe Ming Std L" panose="02020300000000000000" pitchFamily="18" charset="-128"/>
                <a:ea typeface="Adobe Ming Std L" panose="02020300000000000000" pitchFamily="18" charset="-128"/>
              </a:rPr>
              <a:t> If the score is high, It will show a smiling face , if the score is low, </a:t>
            </a:r>
          </a:p>
          <a:p>
            <a:r>
              <a:rPr lang="en-IN" sz="1600" dirty="0">
                <a:latin typeface="Adobe Ming Std L" panose="02020300000000000000" pitchFamily="18" charset="-128"/>
                <a:ea typeface="Adobe Ming Std L" panose="02020300000000000000" pitchFamily="18" charset="-128"/>
              </a:rPr>
              <a:t>it will show a sad face. This gives the plant</a:t>
            </a:r>
          </a:p>
          <a:p>
            <a:r>
              <a:rPr lang="en-IN" sz="1600" dirty="0">
                <a:latin typeface="Adobe Ming Std L" panose="02020300000000000000" pitchFamily="18" charset="-128"/>
                <a:ea typeface="Adobe Ming Std L" panose="02020300000000000000" pitchFamily="18" charset="-128"/>
              </a:rPr>
              <a:t>a “Face” to communicate.</a:t>
            </a:r>
          </a:p>
        </p:txBody>
      </p:sp>
      <p:pic>
        <p:nvPicPr>
          <p:cNvPr id="5" name="Picture 2" descr="Downloads | Adafruit LED Backpacks | Adafruit Learning System">
            <a:extLst>
              <a:ext uri="{FF2B5EF4-FFF2-40B4-BE49-F238E27FC236}">
                <a16:creationId xmlns:a16="http://schemas.microsoft.com/office/drawing/2014/main" id="{EBC1D6D1-A642-4FDA-A046-E99A6D20C04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177" t="22506" r="31264" b="16664"/>
          <a:stretch/>
        </p:blipFill>
        <p:spPr bwMode="auto">
          <a:xfrm>
            <a:off x="7129461" y="4764218"/>
            <a:ext cx="1166813" cy="12546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8945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9D9EC-3587-4E92-A871-BDA77F825D54}"/>
              </a:ext>
            </a:extLst>
          </p:cNvPr>
          <p:cNvSpPr txBox="1">
            <a:spLocks/>
          </p:cNvSpPr>
          <p:nvPr/>
        </p:nvSpPr>
        <p:spPr>
          <a:xfrm>
            <a:off x="423211" y="137328"/>
            <a:ext cx="8290560" cy="838200"/>
          </a:xfrm>
          <a:prstGeom prst="rect">
            <a:avLst/>
          </a:prstGeom>
          <a:blipFill dpi="0" rotWithShape="1">
            <a:blip r:embed="rId3">
              <a:alphaModFix amt="0"/>
            </a:blip>
            <a:srcRect/>
            <a:tile tx="0" ty="0" sx="100000" sy="100000" flip="none" algn="tl"/>
          </a:blip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dirty="0">
                <a:latin typeface="Adobe Ming Std L" panose="02020300000000000000" pitchFamily="18" charset="-128"/>
                <a:ea typeface="Adobe Ming Std L" panose="02020300000000000000" pitchFamily="18" charset="-128"/>
              </a:rPr>
              <a:t>Components required</a:t>
            </a:r>
          </a:p>
        </p:txBody>
      </p:sp>
      <p:pic>
        <p:nvPicPr>
          <p:cNvPr id="1026" name="Picture 2" descr="Pololu - Arduino Uno R3">
            <a:extLst>
              <a:ext uri="{FF2B5EF4-FFF2-40B4-BE49-F238E27FC236}">
                <a16:creationId xmlns:a16="http://schemas.microsoft.com/office/drawing/2014/main" id="{D4C33B7F-C105-4A40-BD58-9AA92C9D4CDE}"/>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604522" y="899518"/>
            <a:ext cx="2186684" cy="164001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028" name="Picture 4" descr="Soil Moisture Sensor Module buy online at Low Price in India -  ElectronicsComp.com">
            <a:extLst>
              <a:ext uri="{FF2B5EF4-FFF2-40B4-BE49-F238E27FC236}">
                <a16:creationId xmlns:a16="http://schemas.microsoft.com/office/drawing/2014/main" id="{AC53D47A-2CC4-43C3-A5DC-258194741B0E}"/>
              </a:ext>
            </a:extLst>
          </p:cNvPr>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3006036" y="3783859"/>
            <a:ext cx="1562455" cy="160621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030" name="Picture 6" descr="DHT11 Temperature/Humidity Sensor Module (Waveshare) : rhydoLABZ INDIA">
            <a:extLst>
              <a:ext uri="{FF2B5EF4-FFF2-40B4-BE49-F238E27FC236}">
                <a16:creationId xmlns:a16="http://schemas.microsoft.com/office/drawing/2014/main" id="{0A7FE42F-7AC8-4B03-93D3-913A2BF5A667}"/>
              </a:ext>
            </a:extLst>
          </p:cNvPr>
          <p:cNvPicPr>
            <a:picLocks noChangeAspect="1" noChangeArrowheads="1"/>
          </p:cNvPicPr>
          <p:nvPr/>
        </p:nvPicPr>
        <p:blipFill>
          <a:blip r:embed="rId6" cstate="hqprint">
            <a:extLst>
              <a:ext uri="{28A0092B-C50C-407E-A947-70E740481C1C}">
                <a14:useLocalDpi xmlns:a14="http://schemas.microsoft.com/office/drawing/2010/main" val="0"/>
              </a:ext>
            </a:extLst>
          </a:blip>
          <a:srcRect/>
          <a:stretch>
            <a:fillRect/>
          </a:stretch>
        </p:blipFill>
        <p:spPr bwMode="auto">
          <a:xfrm>
            <a:off x="7130001" y="3838444"/>
            <a:ext cx="1458924" cy="15172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032" name="Picture 8" descr="LDR Photoresistor Photo Light Sensitive Resistor Light Dependent Resistor,  Photo Cell Sensors, एल डी आर सेंसर, एल डी आर संवेदक - Elite Enterprise,  Delhi | ID: 21105369062">
            <a:extLst>
              <a:ext uri="{FF2B5EF4-FFF2-40B4-BE49-F238E27FC236}">
                <a16:creationId xmlns:a16="http://schemas.microsoft.com/office/drawing/2014/main" id="{6BA6D95D-FDC4-4567-83EF-89DD4C4CC16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10713" y="3805739"/>
            <a:ext cx="1562455" cy="15624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034" name="Picture 10" descr="16x2 LCD Display Module - Blue Back Light - iT-Electronics Components">
            <a:extLst>
              <a:ext uri="{FF2B5EF4-FFF2-40B4-BE49-F238E27FC236}">
                <a16:creationId xmlns:a16="http://schemas.microsoft.com/office/drawing/2014/main" id="{EFA5D161-4114-4F38-A326-559D1C326BA0}"/>
              </a:ext>
            </a:extLst>
          </p:cNvPr>
          <p:cNvPicPr>
            <a:picLocks noChangeAspect="1" noChangeArrowheads="1"/>
          </p:cNvPicPr>
          <p:nvPr/>
        </p:nvPicPr>
        <p:blipFill>
          <a:blip r:embed="rId8" cstate="hqprint">
            <a:extLst>
              <a:ext uri="{28A0092B-C50C-407E-A947-70E740481C1C}">
                <a14:useLocalDpi xmlns:a14="http://schemas.microsoft.com/office/drawing/2010/main" val="0"/>
              </a:ext>
            </a:extLst>
          </a:blip>
          <a:srcRect/>
          <a:stretch>
            <a:fillRect/>
          </a:stretch>
        </p:blipFill>
        <p:spPr bwMode="auto">
          <a:xfrm>
            <a:off x="8326544" y="885862"/>
            <a:ext cx="1667323" cy="166732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036" name="Picture 12" descr="Buy MAX7219 Dot Matrix LED Display Module Online at Best Price|Robu">
            <a:extLst>
              <a:ext uri="{FF2B5EF4-FFF2-40B4-BE49-F238E27FC236}">
                <a16:creationId xmlns:a16="http://schemas.microsoft.com/office/drawing/2014/main" id="{B2570D2E-C622-4E8F-B138-F46E7BD9FE2D}"/>
              </a:ext>
            </a:extLst>
          </p:cNvPr>
          <p:cNvPicPr>
            <a:picLocks noChangeAspect="1" noChangeArrowheads="1"/>
          </p:cNvPicPr>
          <p:nvPr/>
        </p:nvPicPr>
        <p:blipFill>
          <a:blip r:embed="rId9" cstate="hqprint">
            <a:extLst>
              <a:ext uri="{28A0092B-C50C-407E-A947-70E740481C1C}">
                <a14:useLocalDpi xmlns:a14="http://schemas.microsoft.com/office/drawing/2010/main" val="0"/>
              </a:ext>
            </a:extLst>
          </a:blip>
          <a:srcRect/>
          <a:stretch>
            <a:fillRect/>
          </a:stretch>
        </p:blipFill>
        <p:spPr bwMode="auto">
          <a:xfrm>
            <a:off x="3263329" y="898580"/>
            <a:ext cx="2223097" cy="166732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038" name="Picture 14" descr="ePro Labs KIT-0010 Breadboard + 60 Pieces Jumper Wires Set : Amazon.in:  Industrial &amp;amp; Scientific">
            <a:extLst>
              <a:ext uri="{FF2B5EF4-FFF2-40B4-BE49-F238E27FC236}">
                <a16:creationId xmlns:a16="http://schemas.microsoft.com/office/drawing/2014/main" id="{6E29F18F-D36F-4A54-A446-B72CFFFC04DF}"/>
              </a:ext>
            </a:extLst>
          </p:cNvPr>
          <p:cNvPicPr>
            <a:picLocks noChangeAspect="1" noChangeArrowheads="1"/>
          </p:cNvPicPr>
          <p:nvPr/>
        </p:nvPicPr>
        <p:blipFill>
          <a:blip r:embed="rId10" cstate="hqprint">
            <a:extLst>
              <a:ext uri="{28A0092B-C50C-407E-A947-70E740481C1C}">
                <a14:useLocalDpi xmlns:a14="http://schemas.microsoft.com/office/drawing/2010/main" val="0"/>
              </a:ext>
            </a:extLst>
          </a:blip>
          <a:srcRect/>
          <a:stretch>
            <a:fillRect/>
          </a:stretch>
        </p:blipFill>
        <p:spPr bwMode="auto">
          <a:xfrm>
            <a:off x="6042198" y="898579"/>
            <a:ext cx="1667323" cy="166732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9E3EF12-EEBA-4742-8A28-144485801929}"/>
              </a:ext>
            </a:extLst>
          </p:cNvPr>
          <p:cNvSpPr txBox="1"/>
          <p:nvPr/>
        </p:nvSpPr>
        <p:spPr>
          <a:xfrm>
            <a:off x="604522" y="2812362"/>
            <a:ext cx="2085827" cy="307777"/>
          </a:xfrm>
          <a:prstGeom prst="rect">
            <a:avLst/>
          </a:prstGeom>
          <a:noFill/>
        </p:spPr>
        <p:txBody>
          <a:bodyPr wrap="none" rtlCol="0">
            <a:spAutoFit/>
          </a:bodyPr>
          <a:lstStyle/>
          <a:p>
            <a:r>
              <a:rPr lang="en-IN" sz="1400" i="1" dirty="0">
                <a:latin typeface="Adobe Ming Std L" panose="02020300000000000000" pitchFamily="18" charset="-128"/>
                <a:ea typeface="Adobe Ming Std L" panose="02020300000000000000" pitchFamily="18" charset="-128"/>
              </a:rPr>
              <a:t>Arduino Uno with Cable</a:t>
            </a:r>
          </a:p>
        </p:txBody>
      </p:sp>
      <p:sp>
        <p:nvSpPr>
          <p:cNvPr id="4" name="TextBox 3">
            <a:extLst>
              <a:ext uri="{FF2B5EF4-FFF2-40B4-BE49-F238E27FC236}">
                <a16:creationId xmlns:a16="http://schemas.microsoft.com/office/drawing/2014/main" id="{6E37A358-6F3A-4626-A523-AC903009E5DE}"/>
              </a:ext>
            </a:extLst>
          </p:cNvPr>
          <p:cNvSpPr txBox="1"/>
          <p:nvPr/>
        </p:nvSpPr>
        <p:spPr>
          <a:xfrm>
            <a:off x="5260999" y="5565766"/>
            <a:ext cx="1261884" cy="307777"/>
          </a:xfrm>
          <a:prstGeom prst="rect">
            <a:avLst/>
          </a:prstGeom>
          <a:noFill/>
        </p:spPr>
        <p:txBody>
          <a:bodyPr wrap="none" rtlCol="0">
            <a:spAutoFit/>
          </a:bodyPr>
          <a:lstStyle/>
          <a:p>
            <a:r>
              <a:rPr lang="en-IN" sz="1400" i="1" dirty="0">
                <a:latin typeface="Adobe Ming Std L" panose="02020300000000000000" pitchFamily="18" charset="-128"/>
                <a:ea typeface="Adobe Ming Std L" panose="02020300000000000000" pitchFamily="18" charset="-128"/>
              </a:rPr>
              <a:t>Photoresistor</a:t>
            </a:r>
          </a:p>
        </p:txBody>
      </p:sp>
      <p:sp>
        <p:nvSpPr>
          <p:cNvPr id="12" name="TextBox 11">
            <a:extLst>
              <a:ext uri="{FF2B5EF4-FFF2-40B4-BE49-F238E27FC236}">
                <a16:creationId xmlns:a16="http://schemas.microsoft.com/office/drawing/2014/main" id="{8D459D42-3488-4D69-B38C-25E85B2EE8F1}"/>
              </a:ext>
            </a:extLst>
          </p:cNvPr>
          <p:cNvSpPr txBox="1"/>
          <p:nvPr/>
        </p:nvSpPr>
        <p:spPr>
          <a:xfrm>
            <a:off x="6888684" y="5562603"/>
            <a:ext cx="1941557" cy="523220"/>
          </a:xfrm>
          <a:prstGeom prst="rect">
            <a:avLst/>
          </a:prstGeom>
          <a:noFill/>
        </p:spPr>
        <p:txBody>
          <a:bodyPr wrap="none" rtlCol="0">
            <a:spAutoFit/>
          </a:bodyPr>
          <a:lstStyle/>
          <a:p>
            <a:pPr algn="ctr"/>
            <a:r>
              <a:rPr lang="en-IN" sz="1400" i="1" dirty="0">
                <a:latin typeface="Adobe Ming Std L" panose="02020300000000000000" pitchFamily="18" charset="-128"/>
                <a:ea typeface="Adobe Ming Std L" panose="02020300000000000000" pitchFamily="18" charset="-128"/>
              </a:rPr>
              <a:t>DHT11 temperature </a:t>
            </a:r>
          </a:p>
          <a:p>
            <a:pPr algn="ctr"/>
            <a:r>
              <a:rPr lang="en-IN" sz="1400" i="1" dirty="0">
                <a:latin typeface="Adobe Ming Std L" panose="02020300000000000000" pitchFamily="18" charset="-128"/>
                <a:ea typeface="Adobe Ming Std L" panose="02020300000000000000" pitchFamily="18" charset="-128"/>
              </a:rPr>
              <a:t>and  Humidity sensor</a:t>
            </a:r>
          </a:p>
        </p:txBody>
      </p:sp>
      <p:sp>
        <p:nvSpPr>
          <p:cNvPr id="13" name="TextBox 12">
            <a:extLst>
              <a:ext uri="{FF2B5EF4-FFF2-40B4-BE49-F238E27FC236}">
                <a16:creationId xmlns:a16="http://schemas.microsoft.com/office/drawing/2014/main" id="{396619FE-8D22-4B79-B14A-6DF446554FD3}"/>
              </a:ext>
            </a:extLst>
          </p:cNvPr>
          <p:cNvSpPr txBox="1"/>
          <p:nvPr/>
        </p:nvSpPr>
        <p:spPr>
          <a:xfrm>
            <a:off x="2862971" y="5574111"/>
            <a:ext cx="1848583" cy="307777"/>
          </a:xfrm>
          <a:prstGeom prst="rect">
            <a:avLst/>
          </a:prstGeom>
          <a:noFill/>
        </p:spPr>
        <p:txBody>
          <a:bodyPr wrap="none" rtlCol="0">
            <a:spAutoFit/>
          </a:bodyPr>
          <a:lstStyle/>
          <a:p>
            <a:r>
              <a:rPr lang="en-IN" sz="1400" i="1" dirty="0">
                <a:latin typeface="Adobe Ming Std L" panose="02020300000000000000" pitchFamily="18" charset="-128"/>
                <a:ea typeface="Adobe Ming Std L" panose="02020300000000000000" pitchFamily="18" charset="-128"/>
              </a:rPr>
              <a:t>Soil Moisture Sensor</a:t>
            </a:r>
          </a:p>
        </p:txBody>
      </p:sp>
      <p:sp>
        <p:nvSpPr>
          <p:cNvPr id="14" name="TextBox 13">
            <a:extLst>
              <a:ext uri="{FF2B5EF4-FFF2-40B4-BE49-F238E27FC236}">
                <a16:creationId xmlns:a16="http://schemas.microsoft.com/office/drawing/2014/main" id="{257A17B0-8B5F-4EB7-9F69-DE20781BEBF2}"/>
              </a:ext>
            </a:extLst>
          </p:cNvPr>
          <p:cNvSpPr txBox="1"/>
          <p:nvPr/>
        </p:nvSpPr>
        <p:spPr>
          <a:xfrm>
            <a:off x="8351329" y="2800563"/>
            <a:ext cx="1617751" cy="307777"/>
          </a:xfrm>
          <a:prstGeom prst="rect">
            <a:avLst/>
          </a:prstGeom>
          <a:noFill/>
        </p:spPr>
        <p:txBody>
          <a:bodyPr wrap="none" rtlCol="0">
            <a:spAutoFit/>
          </a:bodyPr>
          <a:lstStyle/>
          <a:p>
            <a:r>
              <a:rPr lang="en-IN" sz="1400" i="1" dirty="0">
                <a:latin typeface="Adobe Ming Std L" panose="02020300000000000000" pitchFamily="18" charset="-128"/>
                <a:ea typeface="Adobe Ming Std L" panose="02020300000000000000" pitchFamily="18" charset="-128"/>
              </a:rPr>
              <a:t>16x2 LCD Display</a:t>
            </a:r>
          </a:p>
        </p:txBody>
      </p:sp>
      <p:sp>
        <p:nvSpPr>
          <p:cNvPr id="15" name="TextBox 14">
            <a:extLst>
              <a:ext uri="{FF2B5EF4-FFF2-40B4-BE49-F238E27FC236}">
                <a16:creationId xmlns:a16="http://schemas.microsoft.com/office/drawing/2014/main" id="{BE3EE52F-C605-4945-8C81-27CA7BB66C7D}"/>
              </a:ext>
            </a:extLst>
          </p:cNvPr>
          <p:cNvSpPr txBox="1"/>
          <p:nvPr/>
        </p:nvSpPr>
        <p:spPr>
          <a:xfrm>
            <a:off x="3449971" y="2803432"/>
            <a:ext cx="1755609" cy="307777"/>
          </a:xfrm>
          <a:prstGeom prst="rect">
            <a:avLst/>
          </a:prstGeom>
          <a:noFill/>
        </p:spPr>
        <p:txBody>
          <a:bodyPr wrap="none" rtlCol="0">
            <a:spAutoFit/>
          </a:bodyPr>
          <a:lstStyle/>
          <a:p>
            <a:r>
              <a:rPr lang="en-IN" sz="1400" i="1" dirty="0">
                <a:latin typeface="Adobe Ming Std L" panose="02020300000000000000" pitchFamily="18" charset="-128"/>
                <a:ea typeface="Adobe Ming Std L" panose="02020300000000000000" pitchFamily="18" charset="-128"/>
              </a:rPr>
              <a:t>8x8 LED Dot matrix</a:t>
            </a:r>
          </a:p>
        </p:txBody>
      </p:sp>
      <p:sp>
        <p:nvSpPr>
          <p:cNvPr id="16" name="TextBox 15">
            <a:extLst>
              <a:ext uri="{FF2B5EF4-FFF2-40B4-BE49-F238E27FC236}">
                <a16:creationId xmlns:a16="http://schemas.microsoft.com/office/drawing/2014/main" id="{B8F39F6C-1D8E-4136-BAAF-0C977FF9AFB0}"/>
              </a:ext>
            </a:extLst>
          </p:cNvPr>
          <p:cNvSpPr txBox="1"/>
          <p:nvPr/>
        </p:nvSpPr>
        <p:spPr>
          <a:xfrm>
            <a:off x="5892258" y="2769786"/>
            <a:ext cx="1967205" cy="523220"/>
          </a:xfrm>
          <a:prstGeom prst="rect">
            <a:avLst/>
          </a:prstGeom>
          <a:noFill/>
        </p:spPr>
        <p:txBody>
          <a:bodyPr wrap="none" rtlCol="0">
            <a:spAutoFit/>
          </a:bodyPr>
          <a:lstStyle/>
          <a:p>
            <a:pPr algn="ctr"/>
            <a:r>
              <a:rPr lang="en-IN" sz="1400" i="1" dirty="0">
                <a:latin typeface="Adobe Ming Std L" panose="02020300000000000000" pitchFamily="18" charset="-128"/>
                <a:ea typeface="Adobe Ming Std L" panose="02020300000000000000" pitchFamily="18" charset="-128"/>
              </a:rPr>
              <a:t>Breadboard along with</a:t>
            </a:r>
          </a:p>
          <a:p>
            <a:pPr algn="ctr"/>
            <a:r>
              <a:rPr lang="en-IN" sz="1400" i="1" dirty="0">
                <a:latin typeface="Adobe Ming Std L" panose="02020300000000000000" pitchFamily="18" charset="-128"/>
                <a:ea typeface="Adobe Ming Std L" panose="02020300000000000000" pitchFamily="18" charset="-128"/>
              </a:rPr>
              <a:t>Jumper Wires</a:t>
            </a:r>
          </a:p>
        </p:txBody>
      </p:sp>
      <p:pic>
        <p:nvPicPr>
          <p:cNvPr id="5" name="Picture 2" descr="10K ohm Resistance Pack-1/2 Watt | Evelta">
            <a:extLst>
              <a:ext uri="{FF2B5EF4-FFF2-40B4-BE49-F238E27FC236}">
                <a16:creationId xmlns:a16="http://schemas.microsoft.com/office/drawing/2014/main" id="{767EBEE2-B7FC-453B-90D0-3EFA746CD062}"/>
              </a:ext>
            </a:extLst>
          </p:cNvPr>
          <p:cNvPicPr>
            <a:picLocks noChangeAspect="1" noChangeArrowheads="1"/>
          </p:cNvPicPr>
          <p:nvPr/>
        </p:nvPicPr>
        <p:blipFill>
          <a:blip r:embed="rId11" cstate="hqprint">
            <a:extLst>
              <a:ext uri="{28A0092B-C50C-407E-A947-70E740481C1C}">
                <a14:useLocalDpi xmlns:a14="http://schemas.microsoft.com/office/drawing/2010/main" val="0"/>
              </a:ext>
            </a:extLst>
          </a:blip>
          <a:srcRect/>
          <a:stretch>
            <a:fillRect/>
          </a:stretch>
        </p:blipFill>
        <p:spPr bwMode="auto">
          <a:xfrm>
            <a:off x="10409935" y="859329"/>
            <a:ext cx="1600679" cy="16006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7AE3B577-D89F-442E-A792-63EF5EE1B66B}"/>
              </a:ext>
            </a:extLst>
          </p:cNvPr>
          <p:cNvSpPr txBox="1"/>
          <p:nvPr/>
        </p:nvSpPr>
        <p:spPr>
          <a:xfrm>
            <a:off x="10262357" y="2769786"/>
            <a:ext cx="1770036" cy="369332"/>
          </a:xfrm>
          <a:prstGeom prst="rect">
            <a:avLst/>
          </a:prstGeom>
          <a:noFill/>
        </p:spPr>
        <p:txBody>
          <a:bodyPr wrap="none" rtlCol="0">
            <a:spAutoFit/>
          </a:bodyPr>
          <a:lstStyle/>
          <a:p>
            <a:r>
              <a:rPr lang="en-IN" sz="1400" i="1" dirty="0">
                <a:latin typeface="Adobe Ming Std L" panose="02020300000000000000" pitchFamily="18" charset="-128"/>
                <a:ea typeface="Adobe Ming Std L" panose="02020300000000000000" pitchFamily="18" charset="-128"/>
              </a:rPr>
              <a:t>10  K Ohm</a:t>
            </a:r>
            <a:r>
              <a:rPr lang="en-IN" dirty="0">
                <a:latin typeface="Adobe Ming Std L" panose="02020300000000000000" pitchFamily="18" charset="-128"/>
                <a:ea typeface="Adobe Ming Std L" panose="02020300000000000000" pitchFamily="18" charset="-128"/>
              </a:rPr>
              <a:t> resistor </a:t>
            </a:r>
            <a:endParaRPr lang="en-IN" sz="1400" i="1" dirty="0">
              <a:latin typeface="Adobe Ming Std L" panose="02020300000000000000" pitchFamily="18" charset="-128"/>
              <a:ea typeface="Adobe Ming Std L" panose="02020300000000000000" pitchFamily="18" charset="-128"/>
            </a:endParaRPr>
          </a:p>
        </p:txBody>
      </p:sp>
    </p:spTree>
    <p:extLst>
      <p:ext uri="{BB962C8B-B14F-4D97-AF65-F5344CB8AC3E}">
        <p14:creationId xmlns:p14="http://schemas.microsoft.com/office/powerpoint/2010/main" val="2098627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91EE4-10DC-42D9-B860-156D314638DD}"/>
              </a:ext>
            </a:extLst>
          </p:cNvPr>
          <p:cNvSpPr txBox="1">
            <a:spLocks/>
          </p:cNvSpPr>
          <p:nvPr/>
        </p:nvSpPr>
        <p:spPr>
          <a:xfrm>
            <a:off x="143554" y="46637"/>
            <a:ext cx="3435804" cy="838200"/>
          </a:xfrm>
          <a:prstGeom prst="rect">
            <a:avLst/>
          </a:prstGeom>
          <a:blipFill dpi="0" rotWithShape="1">
            <a:blip r:embed="rId3">
              <a:alphaModFix amt="0"/>
            </a:blip>
            <a:srcRect/>
            <a:tile tx="0" ty="0" sx="100000" sy="100000" flip="none" algn="tl"/>
          </a:blip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dirty="0">
                <a:latin typeface="Adobe Ming Std L" panose="02020300000000000000" pitchFamily="18" charset="-128"/>
                <a:ea typeface="Adobe Ming Std L" panose="02020300000000000000" pitchFamily="18" charset="-128"/>
              </a:rPr>
              <a:t>Block Diagram</a:t>
            </a:r>
            <a:r>
              <a:rPr lang="en-IN" sz="4000" dirty="0">
                <a:latin typeface="Adobe Ming Std L" panose="02020300000000000000" pitchFamily="18" charset="-128"/>
                <a:ea typeface="Adobe Ming Std L" panose="02020300000000000000" pitchFamily="18" charset="-128"/>
              </a:rPr>
              <a:t> </a:t>
            </a:r>
          </a:p>
        </p:txBody>
      </p:sp>
      <p:sp>
        <p:nvSpPr>
          <p:cNvPr id="3" name="Rectangle 2">
            <a:extLst>
              <a:ext uri="{FF2B5EF4-FFF2-40B4-BE49-F238E27FC236}">
                <a16:creationId xmlns:a16="http://schemas.microsoft.com/office/drawing/2014/main" id="{9CE8D420-F4FA-42D1-B3C8-C7947735FF06}"/>
              </a:ext>
            </a:extLst>
          </p:cNvPr>
          <p:cNvSpPr/>
          <p:nvPr/>
        </p:nvSpPr>
        <p:spPr>
          <a:xfrm>
            <a:off x="628649" y="1804987"/>
            <a:ext cx="1590675"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Soil Moisture </a:t>
            </a:r>
          </a:p>
          <a:p>
            <a:pPr algn="ctr"/>
            <a:r>
              <a:rPr lang="en-IN" dirty="0"/>
              <a:t>Sensor</a:t>
            </a:r>
          </a:p>
        </p:txBody>
      </p:sp>
      <p:sp>
        <p:nvSpPr>
          <p:cNvPr id="4" name="Rectangle 3">
            <a:extLst>
              <a:ext uri="{FF2B5EF4-FFF2-40B4-BE49-F238E27FC236}">
                <a16:creationId xmlns:a16="http://schemas.microsoft.com/office/drawing/2014/main" id="{71CDF74C-0DDC-461B-8B20-860246F7CD74}"/>
              </a:ext>
            </a:extLst>
          </p:cNvPr>
          <p:cNvSpPr/>
          <p:nvPr/>
        </p:nvSpPr>
        <p:spPr>
          <a:xfrm>
            <a:off x="628650" y="2971800"/>
            <a:ext cx="1590675"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Temperature &amp;</a:t>
            </a:r>
          </a:p>
          <a:p>
            <a:pPr algn="ctr"/>
            <a:r>
              <a:rPr lang="en-IN" dirty="0"/>
              <a:t>Humidity</a:t>
            </a:r>
          </a:p>
        </p:txBody>
      </p:sp>
      <p:sp>
        <p:nvSpPr>
          <p:cNvPr id="5" name="Rectangle 4">
            <a:extLst>
              <a:ext uri="{FF2B5EF4-FFF2-40B4-BE49-F238E27FC236}">
                <a16:creationId xmlns:a16="http://schemas.microsoft.com/office/drawing/2014/main" id="{C1592C61-9351-411B-B9F1-60862A2C65F8}"/>
              </a:ext>
            </a:extLst>
          </p:cNvPr>
          <p:cNvSpPr/>
          <p:nvPr/>
        </p:nvSpPr>
        <p:spPr>
          <a:xfrm>
            <a:off x="628650" y="4039588"/>
            <a:ext cx="1590675"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Light Intensity</a:t>
            </a:r>
          </a:p>
        </p:txBody>
      </p:sp>
      <p:sp>
        <p:nvSpPr>
          <p:cNvPr id="6" name="Rectangle 5">
            <a:extLst>
              <a:ext uri="{FF2B5EF4-FFF2-40B4-BE49-F238E27FC236}">
                <a16:creationId xmlns:a16="http://schemas.microsoft.com/office/drawing/2014/main" id="{08599B4D-D55B-42F6-8A26-2488E53D6199}"/>
              </a:ext>
            </a:extLst>
          </p:cNvPr>
          <p:cNvSpPr/>
          <p:nvPr/>
        </p:nvSpPr>
        <p:spPr>
          <a:xfrm>
            <a:off x="3705225" y="2971800"/>
            <a:ext cx="1590675"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Arduino</a:t>
            </a:r>
          </a:p>
        </p:txBody>
      </p:sp>
      <p:sp>
        <p:nvSpPr>
          <p:cNvPr id="7" name="Rectangle 6">
            <a:extLst>
              <a:ext uri="{FF2B5EF4-FFF2-40B4-BE49-F238E27FC236}">
                <a16:creationId xmlns:a16="http://schemas.microsoft.com/office/drawing/2014/main" id="{7FC60EA9-DC9B-45F5-ACED-6A3E67632772}"/>
              </a:ext>
            </a:extLst>
          </p:cNvPr>
          <p:cNvSpPr/>
          <p:nvPr/>
        </p:nvSpPr>
        <p:spPr>
          <a:xfrm>
            <a:off x="6448425" y="1895475"/>
            <a:ext cx="1962150"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LCD Display</a:t>
            </a:r>
          </a:p>
        </p:txBody>
      </p:sp>
      <p:sp>
        <p:nvSpPr>
          <p:cNvPr id="8" name="Rectangle 7">
            <a:extLst>
              <a:ext uri="{FF2B5EF4-FFF2-40B4-BE49-F238E27FC236}">
                <a16:creationId xmlns:a16="http://schemas.microsoft.com/office/drawing/2014/main" id="{5CA8AED5-76F0-4BC9-BD8E-C8D84FBE8716}"/>
              </a:ext>
            </a:extLst>
          </p:cNvPr>
          <p:cNvSpPr/>
          <p:nvPr/>
        </p:nvSpPr>
        <p:spPr>
          <a:xfrm>
            <a:off x="6448425" y="3495676"/>
            <a:ext cx="1962150"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LED Dot Matrix</a:t>
            </a:r>
          </a:p>
        </p:txBody>
      </p:sp>
      <p:cxnSp>
        <p:nvCxnSpPr>
          <p:cNvPr id="10" name="Straight Arrow Connector 9">
            <a:extLst>
              <a:ext uri="{FF2B5EF4-FFF2-40B4-BE49-F238E27FC236}">
                <a16:creationId xmlns:a16="http://schemas.microsoft.com/office/drawing/2014/main" id="{400457AC-4F25-4095-904B-478061BFF955}"/>
              </a:ext>
            </a:extLst>
          </p:cNvPr>
          <p:cNvCxnSpPr>
            <a:stCxn id="4" idx="3"/>
          </p:cNvCxnSpPr>
          <p:nvPr/>
        </p:nvCxnSpPr>
        <p:spPr>
          <a:xfrm flipV="1">
            <a:off x="2219325" y="3300412"/>
            <a:ext cx="182880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7E2584F-0BF1-4810-9BF0-D3D13925E890}"/>
              </a:ext>
            </a:extLst>
          </p:cNvPr>
          <p:cNvCxnSpPr>
            <a:stCxn id="3" idx="3"/>
          </p:cNvCxnSpPr>
          <p:nvPr/>
        </p:nvCxnSpPr>
        <p:spPr>
          <a:xfrm>
            <a:off x="2219324" y="2133600"/>
            <a:ext cx="7620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55BDB03-73D0-49B6-9415-BB7DD1C237CD}"/>
              </a:ext>
            </a:extLst>
          </p:cNvPr>
          <p:cNvCxnSpPr/>
          <p:nvPr/>
        </p:nvCxnSpPr>
        <p:spPr>
          <a:xfrm>
            <a:off x="2981325" y="2133599"/>
            <a:ext cx="0" cy="11668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CF9BF26-8C5E-4E36-BF3E-B33277DED1A0}"/>
              </a:ext>
            </a:extLst>
          </p:cNvPr>
          <p:cNvCxnSpPr>
            <a:cxnSpLocks/>
          </p:cNvCxnSpPr>
          <p:nvPr/>
        </p:nvCxnSpPr>
        <p:spPr>
          <a:xfrm flipV="1">
            <a:off x="2200275" y="4492024"/>
            <a:ext cx="781050"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C980BF8-352A-4476-AA34-98372EB0A583}"/>
              </a:ext>
            </a:extLst>
          </p:cNvPr>
          <p:cNvCxnSpPr/>
          <p:nvPr/>
        </p:nvCxnSpPr>
        <p:spPr>
          <a:xfrm flipV="1">
            <a:off x="2981325" y="3300412"/>
            <a:ext cx="0" cy="11916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99E12EF-E14A-40BD-ABF2-5917493C469B}"/>
              </a:ext>
            </a:extLst>
          </p:cNvPr>
          <p:cNvCxnSpPr>
            <a:cxnSpLocks/>
            <a:stCxn id="6" idx="3"/>
          </p:cNvCxnSpPr>
          <p:nvPr/>
        </p:nvCxnSpPr>
        <p:spPr>
          <a:xfrm flipV="1">
            <a:off x="5295900" y="3300412"/>
            <a:ext cx="80010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9D61897D-306E-4A36-9EB9-2C3BCFE4CEDC}"/>
              </a:ext>
            </a:extLst>
          </p:cNvPr>
          <p:cNvCxnSpPr>
            <a:cxnSpLocks/>
          </p:cNvCxnSpPr>
          <p:nvPr/>
        </p:nvCxnSpPr>
        <p:spPr>
          <a:xfrm flipV="1">
            <a:off x="6096000" y="2224087"/>
            <a:ext cx="0" cy="10763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9223247C-DAF5-44F3-A9B7-4CE616C50DA4}"/>
              </a:ext>
            </a:extLst>
          </p:cNvPr>
          <p:cNvCxnSpPr>
            <a:cxnSpLocks/>
          </p:cNvCxnSpPr>
          <p:nvPr/>
        </p:nvCxnSpPr>
        <p:spPr>
          <a:xfrm>
            <a:off x="6096000" y="3300412"/>
            <a:ext cx="0" cy="5238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98542D4-44F6-4FD5-AD39-4B795F4EB751}"/>
              </a:ext>
            </a:extLst>
          </p:cNvPr>
          <p:cNvCxnSpPr>
            <a:endCxn id="7" idx="1"/>
          </p:cNvCxnSpPr>
          <p:nvPr/>
        </p:nvCxnSpPr>
        <p:spPr>
          <a:xfrm>
            <a:off x="6096000" y="2224087"/>
            <a:ext cx="35242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E617E986-F54A-42F5-AA9F-80E044096F32}"/>
              </a:ext>
            </a:extLst>
          </p:cNvPr>
          <p:cNvCxnSpPr>
            <a:endCxn id="8" idx="1"/>
          </p:cNvCxnSpPr>
          <p:nvPr/>
        </p:nvCxnSpPr>
        <p:spPr>
          <a:xfrm>
            <a:off x="6096000" y="3824288"/>
            <a:ext cx="35242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7E20EE71-ED8E-4BF7-AAB9-BFE5289A3393}"/>
              </a:ext>
            </a:extLst>
          </p:cNvPr>
          <p:cNvSpPr txBox="1"/>
          <p:nvPr/>
        </p:nvSpPr>
        <p:spPr>
          <a:xfrm>
            <a:off x="8648700" y="1854755"/>
            <a:ext cx="1828800" cy="738664"/>
          </a:xfrm>
          <a:prstGeom prst="rect">
            <a:avLst/>
          </a:prstGeom>
          <a:noFill/>
        </p:spPr>
        <p:txBody>
          <a:bodyPr wrap="square" rtlCol="0">
            <a:spAutoFit/>
          </a:bodyPr>
          <a:lstStyle/>
          <a:p>
            <a:r>
              <a:rPr lang="en-IN" sz="1400" dirty="0">
                <a:latin typeface="Adobe Ming Std L" panose="02020300000000000000" pitchFamily="18" charset="-128"/>
                <a:ea typeface="Adobe Ming Std L" panose="02020300000000000000" pitchFamily="18" charset="-128"/>
              </a:rPr>
              <a:t>Will be used to Show Current Plant Condition</a:t>
            </a:r>
          </a:p>
        </p:txBody>
      </p:sp>
      <p:sp>
        <p:nvSpPr>
          <p:cNvPr id="49" name="TextBox 48">
            <a:extLst>
              <a:ext uri="{FF2B5EF4-FFF2-40B4-BE49-F238E27FC236}">
                <a16:creationId xmlns:a16="http://schemas.microsoft.com/office/drawing/2014/main" id="{E4895C0D-3623-4AEB-A333-6FE84E044402}"/>
              </a:ext>
            </a:extLst>
          </p:cNvPr>
          <p:cNvSpPr txBox="1"/>
          <p:nvPr/>
        </p:nvSpPr>
        <p:spPr>
          <a:xfrm>
            <a:off x="6581775" y="4305301"/>
            <a:ext cx="1828800" cy="523220"/>
          </a:xfrm>
          <a:prstGeom prst="rect">
            <a:avLst/>
          </a:prstGeom>
          <a:noFill/>
        </p:spPr>
        <p:txBody>
          <a:bodyPr wrap="square" rtlCol="0">
            <a:spAutoFit/>
          </a:bodyPr>
          <a:lstStyle/>
          <a:p>
            <a:r>
              <a:rPr lang="en-IN" sz="1400" dirty="0">
                <a:latin typeface="Adobe Ming Std L" panose="02020300000000000000" pitchFamily="18" charset="-128"/>
                <a:ea typeface="Adobe Ming Std L" panose="02020300000000000000" pitchFamily="18" charset="-128"/>
              </a:rPr>
              <a:t>Will be used to show a facial Expression</a:t>
            </a:r>
          </a:p>
        </p:txBody>
      </p:sp>
      <p:sp>
        <p:nvSpPr>
          <p:cNvPr id="50" name="TextBox 49">
            <a:extLst>
              <a:ext uri="{FF2B5EF4-FFF2-40B4-BE49-F238E27FC236}">
                <a16:creationId xmlns:a16="http://schemas.microsoft.com/office/drawing/2014/main" id="{BB7CE9FC-154E-42D4-A826-8ACF6A050CC4}"/>
              </a:ext>
            </a:extLst>
          </p:cNvPr>
          <p:cNvSpPr txBox="1"/>
          <p:nvPr/>
        </p:nvSpPr>
        <p:spPr>
          <a:xfrm>
            <a:off x="3657600" y="1927205"/>
            <a:ext cx="1828800" cy="954107"/>
          </a:xfrm>
          <a:prstGeom prst="rect">
            <a:avLst/>
          </a:prstGeom>
          <a:noFill/>
        </p:spPr>
        <p:txBody>
          <a:bodyPr wrap="square" rtlCol="0">
            <a:spAutoFit/>
          </a:bodyPr>
          <a:lstStyle/>
          <a:p>
            <a:r>
              <a:rPr lang="en-IN" sz="1400" dirty="0">
                <a:latin typeface="Adobe Ming Std L" panose="02020300000000000000" pitchFamily="18" charset="-128"/>
                <a:ea typeface="Adobe Ming Std L" panose="02020300000000000000" pitchFamily="18" charset="-128"/>
              </a:rPr>
              <a:t>Calculates the score of how good the plant is being taken care of</a:t>
            </a:r>
          </a:p>
        </p:txBody>
      </p:sp>
      <p:sp>
        <p:nvSpPr>
          <p:cNvPr id="52" name="TextBox 51">
            <a:extLst>
              <a:ext uri="{FF2B5EF4-FFF2-40B4-BE49-F238E27FC236}">
                <a16:creationId xmlns:a16="http://schemas.microsoft.com/office/drawing/2014/main" id="{8EA0235A-CDE3-4ECF-9C47-F289A1ED5281}"/>
              </a:ext>
            </a:extLst>
          </p:cNvPr>
          <p:cNvSpPr txBox="1"/>
          <p:nvPr/>
        </p:nvSpPr>
        <p:spPr>
          <a:xfrm>
            <a:off x="628649" y="1098857"/>
            <a:ext cx="1828800" cy="523220"/>
          </a:xfrm>
          <a:prstGeom prst="rect">
            <a:avLst/>
          </a:prstGeom>
          <a:noFill/>
        </p:spPr>
        <p:txBody>
          <a:bodyPr wrap="square" rtlCol="0">
            <a:spAutoFit/>
          </a:bodyPr>
          <a:lstStyle/>
          <a:p>
            <a:r>
              <a:rPr lang="en-IN" sz="1400" dirty="0">
                <a:latin typeface="Adobe Ming Std L" panose="02020300000000000000" pitchFamily="18" charset="-128"/>
                <a:ea typeface="Adobe Ming Std L" panose="02020300000000000000" pitchFamily="18" charset="-128"/>
              </a:rPr>
              <a:t>Sensor Data fetched every 5 sec</a:t>
            </a:r>
          </a:p>
        </p:txBody>
      </p:sp>
    </p:spTree>
    <p:extLst>
      <p:ext uri="{BB962C8B-B14F-4D97-AF65-F5344CB8AC3E}">
        <p14:creationId xmlns:p14="http://schemas.microsoft.com/office/powerpoint/2010/main" val="1610585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3073B-1F8D-4EDA-8DC3-A511E6DBFAFA}"/>
              </a:ext>
            </a:extLst>
          </p:cNvPr>
          <p:cNvSpPr txBox="1">
            <a:spLocks/>
          </p:cNvSpPr>
          <p:nvPr/>
        </p:nvSpPr>
        <p:spPr>
          <a:xfrm>
            <a:off x="734746" y="377303"/>
            <a:ext cx="8290560" cy="838200"/>
          </a:xfrm>
          <a:prstGeom prst="rect">
            <a:avLst/>
          </a:prstGeom>
          <a:blipFill dpi="0" rotWithShape="1">
            <a:blip r:embed="rId3">
              <a:alphaModFix amt="0"/>
            </a:blip>
            <a:srcRect/>
            <a:tile tx="0" ty="0" sx="100000" sy="100000" flip="none" algn="tl"/>
          </a:blip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Adobe Ming Std L" panose="02020300000000000000" pitchFamily="18" charset="-128"/>
                <a:ea typeface="Adobe Ming Std L" panose="02020300000000000000" pitchFamily="18" charset="-128"/>
              </a:rPr>
              <a:t>L</a:t>
            </a:r>
            <a:r>
              <a:rPr lang="en-IN" sz="3600" dirty="0" err="1">
                <a:latin typeface="Adobe Ming Std L" panose="02020300000000000000" pitchFamily="18" charset="-128"/>
                <a:ea typeface="Adobe Ming Std L" panose="02020300000000000000" pitchFamily="18" charset="-128"/>
              </a:rPr>
              <a:t>iterature</a:t>
            </a:r>
            <a:r>
              <a:rPr lang="en-IN" sz="3600" dirty="0">
                <a:latin typeface="Adobe Ming Std L" panose="02020300000000000000" pitchFamily="18" charset="-128"/>
                <a:ea typeface="Adobe Ming Std L" panose="02020300000000000000" pitchFamily="18" charset="-128"/>
              </a:rPr>
              <a:t> Review</a:t>
            </a:r>
          </a:p>
        </p:txBody>
      </p:sp>
      <p:graphicFrame>
        <p:nvGraphicFramePr>
          <p:cNvPr id="5" name="Table 6">
            <a:extLst>
              <a:ext uri="{FF2B5EF4-FFF2-40B4-BE49-F238E27FC236}">
                <a16:creationId xmlns:a16="http://schemas.microsoft.com/office/drawing/2014/main" id="{0EEAC18F-3859-BC73-5733-0AF6EF999F42}"/>
              </a:ext>
            </a:extLst>
          </p:cNvPr>
          <p:cNvGraphicFramePr>
            <a:graphicFrameLocks noGrp="1"/>
          </p:cNvGraphicFramePr>
          <p:nvPr>
            <p:extLst>
              <p:ext uri="{D42A27DB-BD31-4B8C-83A1-F6EECF244321}">
                <p14:modId xmlns:p14="http://schemas.microsoft.com/office/powerpoint/2010/main" val="1292398374"/>
              </p:ext>
            </p:extLst>
          </p:nvPr>
        </p:nvGraphicFramePr>
        <p:xfrm>
          <a:off x="734746" y="1121664"/>
          <a:ext cx="8906404" cy="2560320"/>
        </p:xfrm>
        <a:graphic>
          <a:graphicData uri="http://schemas.openxmlformats.org/drawingml/2006/table">
            <a:tbl>
              <a:tblPr firstRow="1" bandRow="1">
                <a:tableStyleId>{5C22544A-7EE6-4342-B048-85BDC9FD1C3A}</a:tableStyleId>
              </a:tblPr>
              <a:tblGrid>
                <a:gridCol w="912061">
                  <a:extLst>
                    <a:ext uri="{9D8B030D-6E8A-4147-A177-3AD203B41FA5}">
                      <a16:colId xmlns:a16="http://schemas.microsoft.com/office/drawing/2014/main" val="2605788247"/>
                    </a:ext>
                  </a:extLst>
                </a:gridCol>
                <a:gridCol w="3293615">
                  <a:extLst>
                    <a:ext uri="{9D8B030D-6E8A-4147-A177-3AD203B41FA5}">
                      <a16:colId xmlns:a16="http://schemas.microsoft.com/office/drawing/2014/main" val="2537369242"/>
                    </a:ext>
                  </a:extLst>
                </a:gridCol>
                <a:gridCol w="4700728">
                  <a:extLst>
                    <a:ext uri="{9D8B030D-6E8A-4147-A177-3AD203B41FA5}">
                      <a16:colId xmlns:a16="http://schemas.microsoft.com/office/drawing/2014/main" val="205322118"/>
                    </a:ext>
                  </a:extLst>
                </a:gridCol>
              </a:tblGrid>
              <a:tr h="470675">
                <a:tc>
                  <a:txBody>
                    <a:bodyPr/>
                    <a:lstStyle/>
                    <a:p>
                      <a:pPr algn="ctr"/>
                      <a:endParaRPr lang="en-IN" dirty="0"/>
                    </a:p>
                  </a:txBody>
                  <a:tcPr/>
                </a:tc>
                <a:tc>
                  <a:txBody>
                    <a:bodyPr/>
                    <a:lstStyle/>
                    <a:p>
                      <a:pPr algn="ctr"/>
                      <a:r>
                        <a:rPr lang="en-US" dirty="0"/>
                        <a:t>Name of the Author</a:t>
                      </a:r>
                      <a:endParaRPr lang="en-IN" dirty="0"/>
                    </a:p>
                  </a:txBody>
                  <a:tcPr/>
                </a:tc>
                <a:tc>
                  <a:txBody>
                    <a:bodyPr/>
                    <a:lstStyle/>
                    <a:p>
                      <a:pPr algn="ctr"/>
                      <a:r>
                        <a:rPr lang="en-US" dirty="0"/>
                        <a:t>Title</a:t>
                      </a:r>
                      <a:endParaRPr lang="en-IN" dirty="0"/>
                    </a:p>
                  </a:txBody>
                  <a:tcPr/>
                </a:tc>
                <a:extLst>
                  <a:ext uri="{0D108BD9-81ED-4DB2-BD59-A6C34878D82A}">
                    <a16:rowId xmlns:a16="http://schemas.microsoft.com/office/drawing/2014/main" val="1901952123"/>
                  </a:ext>
                </a:extLst>
              </a:tr>
              <a:tr h="798048">
                <a:tc>
                  <a:txBody>
                    <a:bodyPr/>
                    <a:lstStyle/>
                    <a:p>
                      <a:pPr algn="ctr"/>
                      <a:r>
                        <a:rPr lang="en-US" dirty="0">
                          <a:latin typeface="Yu Gothic" panose="020B0400000000000000" pitchFamily="34" charset="-128"/>
                          <a:ea typeface="Yu Gothic" panose="020B0400000000000000" pitchFamily="34" charset="-128"/>
                        </a:rPr>
                        <a:t>1</a:t>
                      </a:r>
                      <a:endParaRPr lang="en-IN" dirty="0">
                        <a:latin typeface="Yu Gothic" panose="020B0400000000000000" pitchFamily="34" charset="-128"/>
                        <a:ea typeface="Yu Gothic" panose="020B0400000000000000" pitchFamily="34" charset="-128"/>
                      </a:endParaRPr>
                    </a:p>
                  </a:txBody>
                  <a:tcPr/>
                </a:tc>
                <a:tc>
                  <a:txBody>
                    <a:bodyPr/>
                    <a:lstStyle/>
                    <a:p>
                      <a:pPr algn="ctr"/>
                      <a:r>
                        <a:rPr lang="en-IN" dirty="0">
                          <a:latin typeface="Yu Gothic" panose="020B0400000000000000" pitchFamily="34" charset="-128"/>
                          <a:ea typeface="Yu Gothic" panose="020B0400000000000000" pitchFamily="34" charset="-128"/>
                        </a:rPr>
                        <a:t>Jonathan </a:t>
                      </a:r>
                      <a:r>
                        <a:rPr lang="en-IN" dirty="0" err="1">
                          <a:latin typeface="Yu Gothic" panose="020B0400000000000000" pitchFamily="34" charset="-128"/>
                          <a:ea typeface="Yu Gothic" panose="020B0400000000000000" pitchFamily="34" charset="-128"/>
                        </a:rPr>
                        <a:t>Gana</a:t>
                      </a:r>
                      <a:r>
                        <a:rPr lang="en-IN" dirty="0">
                          <a:latin typeface="Yu Gothic" panose="020B0400000000000000" pitchFamily="34" charset="-128"/>
                          <a:ea typeface="Yu Gothic" panose="020B0400000000000000" pitchFamily="34" charset="-128"/>
                        </a:rPr>
                        <a:t> </a:t>
                      </a:r>
                      <a:r>
                        <a:rPr lang="en-IN" dirty="0" err="1">
                          <a:latin typeface="Yu Gothic" panose="020B0400000000000000" pitchFamily="34" charset="-128"/>
                          <a:ea typeface="Yu Gothic" panose="020B0400000000000000" pitchFamily="34" charset="-128"/>
                        </a:rPr>
                        <a:t>Kolo</a:t>
                      </a:r>
                      <a:endParaRPr lang="en-IN" dirty="0">
                        <a:latin typeface="Yu Gothic" panose="020B0400000000000000" pitchFamily="34" charset="-128"/>
                        <a:ea typeface="Yu Gothic" panose="020B0400000000000000" pitchFamily="34" charset="-128"/>
                      </a:endParaRPr>
                    </a:p>
                  </a:txBody>
                  <a:tcPr/>
                </a:tc>
                <a:tc>
                  <a:txBody>
                    <a:bodyPr/>
                    <a:lstStyle/>
                    <a:p>
                      <a:pPr algn="ctr"/>
                      <a:r>
                        <a:rPr lang="en-US" dirty="0">
                          <a:latin typeface="Yu Gothic" panose="020B0400000000000000" pitchFamily="34" charset="-128"/>
                          <a:ea typeface="Yu Gothic" panose="020B0400000000000000" pitchFamily="34" charset="-128"/>
                        </a:rPr>
                        <a:t>Design and construction of automatic power changeover system</a:t>
                      </a:r>
                      <a:endParaRPr lang="en-IN" dirty="0">
                        <a:latin typeface="Yu Gothic" panose="020B0400000000000000" pitchFamily="34" charset="-128"/>
                        <a:ea typeface="Yu Gothic" panose="020B0400000000000000" pitchFamily="34" charset="-128"/>
                      </a:endParaRPr>
                    </a:p>
                  </a:txBody>
                  <a:tcPr/>
                </a:tc>
                <a:extLst>
                  <a:ext uri="{0D108BD9-81ED-4DB2-BD59-A6C34878D82A}">
                    <a16:rowId xmlns:a16="http://schemas.microsoft.com/office/drawing/2014/main" val="1969098045"/>
                  </a:ext>
                </a:extLst>
              </a:tr>
              <a:tr h="1291597">
                <a:tc>
                  <a:txBody>
                    <a:bodyPr/>
                    <a:lstStyle/>
                    <a:p>
                      <a:pPr algn="ctr"/>
                      <a:r>
                        <a:rPr lang="en-US" dirty="0">
                          <a:latin typeface="Yu Gothic" panose="020B0400000000000000" pitchFamily="34" charset="-128"/>
                          <a:ea typeface="Yu Gothic" panose="020B0400000000000000" pitchFamily="34" charset="-128"/>
                        </a:rPr>
                        <a:t>2</a:t>
                      </a:r>
                      <a:endParaRPr lang="en-IN" dirty="0">
                        <a:latin typeface="Yu Gothic" panose="020B0400000000000000" pitchFamily="34" charset="-128"/>
                        <a:ea typeface="Yu Gothic" panose="020B0400000000000000" pitchFamily="34" charset="-128"/>
                      </a:endParaRPr>
                    </a:p>
                  </a:txBody>
                  <a:tcPr/>
                </a:tc>
                <a:tc>
                  <a:txBody>
                    <a:bodyPr/>
                    <a:lstStyle/>
                    <a:p>
                      <a:pPr algn="ctr"/>
                      <a:r>
                        <a:rPr lang="en-IN" dirty="0">
                          <a:latin typeface="Yu Gothic" panose="020B0400000000000000" pitchFamily="34" charset="-128"/>
                          <a:ea typeface="Yu Gothic" panose="020B0400000000000000" pitchFamily="34" charset="-128"/>
                        </a:rPr>
                        <a:t>S. V. Devika, Sk. </a:t>
                      </a:r>
                      <a:r>
                        <a:rPr lang="en-IN" dirty="0" err="1">
                          <a:latin typeface="Yu Gothic" panose="020B0400000000000000" pitchFamily="34" charset="-128"/>
                          <a:ea typeface="Yu Gothic" panose="020B0400000000000000" pitchFamily="34" charset="-128"/>
                        </a:rPr>
                        <a:t>Khamuruddeen</a:t>
                      </a:r>
                      <a:r>
                        <a:rPr lang="en-IN" dirty="0">
                          <a:latin typeface="Yu Gothic" panose="020B0400000000000000" pitchFamily="34" charset="-128"/>
                          <a:ea typeface="Yu Gothic" panose="020B0400000000000000" pitchFamily="34" charset="-128"/>
                        </a:rPr>
                        <a:t>, Sk. </a:t>
                      </a:r>
                      <a:r>
                        <a:rPr lang="en-IN" dirty="0" err="1">
                          <a:latin typeface="Yu Gothic" panose="020B0400000000000000" pitchFamily="34" charset="-128"/>
                          <a:ea typeface="Yu Gothic" panose="020B0400000000000000" pitchFamily="34" charset="-128"/>
                        </a:rPr>
                        <a:t>Khamurunnisa</a:t>
                      </a:r>
                      <a:r>
                        <a:rPr lang="en-IN" dirty="0">
                          <a:latin typeface="Yu Gothic" panose="020B0400000000000000" pitchFamily="34" charset="-128"/>
                          <a:ea typeface="Yu Gothic" panose="020B0400000000000000" pitchFamily="34" charset="-128"/>
                        </a:rPr>
                        <a:t>, Jayanth Thota, </a:t>
                      </a:r>
                      <a:r>
                        <a:rPr lang="en-IN" dirty="0" err="1">
                          <a:latin typeface="Yu Gothic" panose="020B0400000000000000" pitchFamily="34" charset="-128"/>
                          <a:ea typeface="Yu Gothic" panose="020B0400000000000000" pitchFamily="34" charset="-128"/>
                        </a:rPr>
                        <a:t>Khalesha</a:t>
                      </a:r>
                      <a:r>
                        <a:rPr lang="en-IN" dirty="0">
                          <a:latin typeface="Yu Gothic" panose="020B0400000000000000" pitchFamily="34" charset="-128"/>
                          <a:ea typeface="Yu Gothic" panose="020B0400000000000000" pitchFamily="34" charset="-128"/>
                        </a:rPr>
                        <a:t> Shaik</a:t>
                      </a:r>
                    </a:p>
                  </a:txBody>
                  <a:tcPr/>
                </a:tc>
                <a:tc>
                  <a:txBody>
                    <a:bodyPr/>
                    <a:lstStyle/>
                    <a:p>
                      <a:pPr algn="ctr"/>
                      <a:r>
                        <a:rPr lang="en-US" dirty="0">
                          <a:latin typeface="Yu Gothic" panose="020B0400000000000000" pitchFamily="34" charset="-128"/>
                          <a:ea typeface="Yu Gothic" panose="020B0400000000000000" pitchFamily="34" charset="-128"/>
                        </a:rPr>
                        <a:t>Arduino Based Automatic Plant Watering System </a:t>
                      </a:r>
                      <a:endParaRPr lang="en-IN" dirty="0">
                        <a:latin typeface="Yu Gothic" panose="020B0400000000000000" pitchFamily="34" charset="-128"/>
                        <a:ea typeface="Yu Gothic" panose="020B0400000000000000" pitchFamily="34" charset="-128"/>
                      </a:endParaRPr>
                    </a:p>
                  </a:txBody>
                  <a:tcPr/>
                </a:tc>
                <a:extLst>
                  <a:ext uri="{0D108BD9-81ED-4DB2-BD59-A6C34878D82A}">
                    <a16:rowId xmlns:a16="http://schemas.microsoft.com/office/drawing/2014/main" val="3198534130"/>
                  </a:ext>
                </a:extLst>
              </a:tr>
            </a:tbl>
          </a:graphicData>
        </a:graphic>
      </p:graphicFrame>
      <p:sp>
        <p:nvSpPr>
          <p:cNvPr id="7" name="TextBox 6">
            <a:extLst>
              <a:ext uri="{FF2B5EF4-FFF2-40B4-BE49-F238E27FC236}">
                <a16:creationId xmlns:a16="http://schemas.microsoft.com/office/drawing/2014/main" id="{004403E6-CE53-41EE-5EBD-078AF64D5CCE}"/>
              </a:ext>
            </a:extLst>
          </p:cNvPr>
          <p:cNvSpPr txBox="1"/>
          <p:nvPr/>
        </p:nvSpPr>
        <p:spPr>
          <a:xfrm>
            <a:off x="734746" y="3918513"/>
            <a:ext cx="7978686" cy="1261884"/>
          </a:xfrm>
          <a:prstGeom prst="rect">
            <a:avLst/>
          </a:prstGeom>
          <a:noFill/>
        </p:spPr>
        <p:txBody>
          <a:bodyPr wrap="square" rtlCol="0">
            <a:spAutoFit/>
          </a:bodyPr>
          <a:lstStyle/>
          <a:p>
            <a:r>
              <a:rPr lang="en-US" sz="3600" b="1" dirty="0">
                <a:latin typeface="Adobe Ming Std L" panose="02020300000000000000" pitchFamily="18" charset="-128"/>
                <a:ea typeface="Adobe Ming Std L" panose="02020300000000000000" pitchFamily="18" charset="-128"/>
              </a:rPr>
              <a:t>Innovation</a:t>
            </a:r>
          </a:p>
          <a:p>
            <a:r>
              <a:rPr lang="en-US" sz="2000" dirty="0">
                <a:latin typeface="Adobe Ming Std L" panose="02020300000000000000" pitchFamily="18" charset="-128"/>
                <a:ea typeface="Adobe Ming Std L" panose="02020300000000000000" pitchFamily="18" charset="-128"/>
              </a:rPr>
              <a:t>Design and Implementation of the project with Arduino </a:t>
            </a:r>
          </a:p>
          <a:p>
            <a:r>
              <a:rPr lang="en-US" sz="2000" dirty="0">
                <a:latin typeface="Adobe Ming Std L" panose="02020300000000000000" pitchFamily="18" charset="-128"/>
                <a:ea typeface="Adobe Ming Std L" panose="02020300000000000000" pitchFamily="18" charset="-128"/>
              </a:rPr>
              <a:t>Display facial expressions on an 8x8 led matrix</a:t>
            </a:r>
          </a:p>
        </p:txBody>
      </p:sp>
    </p:spTree>
    <p:extLst>
      <p:ext uri="{BB962C8B-B14F-4D97-AF65-F5344CB8AC3E}">
        <p14:creationId xmlns:p14="http://schemas.microsoft.com/office/powerpoint/2010/main" val="41572294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853</TotalTime>
  <Words>841</Words>
  <Application>Microsoft Office PowerPoint</Application>
  <PresentationFormat>Widescreen</PresentationFormat>
  <Paragraphs>88</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Yu Gothic</vt:lpstr>
      <vt:lpstr>Adobe Ming Std L</vt:lpstr>
      <vt:lpstr>Arial</vt:lpstr>
      <vt:lpstr>Calibri</vt:lpstr>
      <vt:lpstr>Calibri Light</vt:lpstr>
      <vt:lpstr>Times New Roman</vt:lpstr>
      <vt:lpstr>Office Theme</vt:lpstr>
      <vt:lpstr>Plant Communication System with microprocessor interfacing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 communication system</dc:title>
  <dc:creator>SIDDHARTH BHATTACHARYA</dc:creator>
  <cp:lastModifiedBy>Nida Ghani</cp:lastModifiedBy>
  <cp:revision>47</cp:revision>
  <dcterms:created xsi:type="dcterms:W3CDTF">2021-08-13T12:34:53Z</dcterms:created>
  <dcterms:modified xsi:type="dcterms:W3CDTF">2022-09-08T08:05:37Z</dcterms:modified>
</cp:coreProperties>
</file>